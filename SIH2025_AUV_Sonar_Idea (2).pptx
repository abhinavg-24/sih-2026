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2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image" Target="../media/image-4-7.png"/><Relationship Id="rId9" Type="http://schemas.openxmlformats.org/officeDocument/2006/relationships/image" Target="../media/image-4-7.png"/><Relationship Id="rId10" Type="http://schemas.openxmlformats.org/officeDocument/2006/relationships/image" Target="../media/image-4-7.png"/><Relationship Id="rId11" Type="http://schemas.openxmlformats.org/officeDocument/2006/relationships/image" Target="../media/image-4-7.png"/><Relationship Id="rId12" Type="http://schemas.openxmlformats.org/officeDocument/2006/relationships/image" Target="../media/image-4-12.png"/><Relationship Id="rId13" Type="http://schemas.openxmlformats.org/officeDocument/2006/relationships/image" Target="../media/image-4-12.png"/><Relationship Id="rId14" Type="http://schemas.openxmlformats.org/officeDocument/2006/relationships/image" Target="../media/image-4-12.png"/><Relationship Id="rId15" Type="http://schemas.openxmlformats.org/officeDocument/2006/relationships/image" Target="../media/image-4-12.png"/><Relationship Id="rId16" Type="http://schemas.openxmlformats.org/officeDocument/2006/relationships/image" Target="../media/image-4-12.png"/><Relationship Id="rId17" Type="http://schemas.openxmlformats.org/officeDocument/2006/relationships/image" Target="../media/image-4-17.png"/><Relationship Id="rId18" Type="http://schemas.openxmlformats.org/officeDocument/2006/relationships/image" Target="../media/image-4-17.png"/><Relationship Id="rId19" Type="http://schemas.openxmlformats.org/officeDocument/2006/relationships/image" Target="../media/image-4-17.png"/><Relationship Id="rId20" Type="http://schemas.openxmlformats.org/officeDocument/2006/relationships/image" Target="../media/image-4-17.png"/><Relationship Id="rId21" Type="http://schemas.openxmlformats.org/officeDocument/2006/relationships/image" Target="../media/image-4-17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7.png"/><Relationship Id="rId9" Type="http://schemas.openxmlformats.org/officeDocument/2006/relationships/image" Target="../media/image-5-9.png"/><Relationship Id="rId10" Type="http://schemas.openxmlformats.org/officeDocument/2006/relationships/image" Target="../media/image-5-9.png"/><Relationship Id="rId11" Type="http://schemas.openxmlformats.org/officeDocument/2006/relationships/image" Target="../media/image-5-11.png"/><Relationship Id="rId12" Type="http://schemas.openxmlformats.org/officeDocument/2006/relationships/image" Target="../media/image-5-11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6.png"/><Relationship Id="rId8" Type="http://schemas.openxmlformats.org/officeDocument/2006/relationships/image" Target="../media/image-6-6.png"/><Relationship Id="rId9" Type="http://schemas.openxmlformats.org/officeDocument/2006/relationships/image" Target="../media/image-6-6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8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INDIA HACKATHON 2025</a:t>
            </a:r>
            <a:endParaRPr lang="en-US" sz="2600" dirty="0"/>
          </a:p>
        </p:txBody>
      </p:sp>
      <p:pic>
        <p:nvPicPr>
          <p:cNvPr id="3" name="Image 0" descr="/home/claude/build/assets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201168"/>
            <a:ext cx="1417320" cy="72237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868680"/>
            <a:ext cx="11460175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024128"/>
            <a:ext cx="114601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SOFTWARE-DEFINED SONAR TRANSMITTER FOR AUV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365760" y="1664208"/>
            <a:ext cx="114601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environmental adaptation of sonar waveforms for high-quality underwater mapping with low-power operation.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65760" y="2240280"/>
            <a:ext cx="5349240" cy="3794760"/>
          </a:xfrm>
          <a:prstGeom prst="roundRect">
            <a:avLst>
              <a:gd name="adj" fmla="val 1446"/>
            </a:avLst>
          </a:prstGeom>
          <a:solidFill>
            <a:srgbClr val="F4F7FA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2532888"/>
            <a:ext cx="475488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  —  </a:t>
            </a:r>
            <a:pPr indent="0" marL="0">
              <a:buNone/>
            </a:pPr>
            <a:r>
              <a:rPr lang="en-US" sz="135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To be inserted ]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" y="3073908"/>
            <a:ext cx="475488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  —  </a:t>
            </a:r>
            <a:pPr indent="0" marL="0">
              <a:buNone/>
            </a:pPr>
            <a:r>
              <a:rPr lang="en-US" sz="135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To be inserted ]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85800" y="3614928"/>
            <a:ext cx="475488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 —  </a:t>
            </a:r>
            <a:pPr indent="0" marL="0">
              <a:buNone/>
            </a:pPr>
            <a:r>
              <a:rPr lang="en-US" sz="135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To be inserted ]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85800" y="4155948"/>
            <a:ext cx="475488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  —  </a:t>
            </a:r>
            <a:pPr indent="0" marL="0">
              <a:buNone/>
            </a:pPr>
            <a:r>
              <a:rPr lang="en-US" sz="1350" b="1" i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85800" y="4696968"/>
            <a:ext cx="475488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  —  </a:t>
            </a:r>
            <a:pPr indent="0" marL="0">
              <a:buNone/>
            </a:pPr>
            <a:r>
              <a:rPr lang="en-US" sz="135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To be inserted ]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85800" y="5237988"/>
            <a:ext cx="475488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—  </a:t>
            </a:r>
            <a:pPr indent="0" marL="0">
              <a:buNone/>
            </a:pPr>
            <a:r>
              <a:rPr lang="en-US" sz="135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To be inserted ]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989320" y="2240280"/>
            <a:ext cx="5836615" cy="3794760"/>
          </a:xfrm>
          <a:prstGeom prst="roundRect">
            <a:avLst>
              <a:gd name="adj" fmla="val 1446"/>
            </a:avLst>
          </a:prstGeom>
          <a:solidFill>
            <a:srgbClr val="EAF3F8"/>
          </a:solidFill>
          <a:ln/>
        </p:spPr>
      </p:sp>
      <p:sp>
        <p:nvSpPr>
          <p:cNvPr id="15" name="Shape 12"/>
          <p:cNvSpPr/>
          <p:nvPr/>
        </p:nvSpPr>
        <p:spPr>
          <a:xfrm>
            <a:off x="7901788" y="2514600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21295C"/>
          </a:solidFill>
          <a:ln/>
        </p:spPr>
      </p:sp>
      <p:sp>
        <p:nvSpPr>
          <p:cNvPr id="16" name="Text 13"/>
          <p:cNvSpPr/>
          <p:nvPr/>
        </p:nvSpPr>
        <p:spPr>
          <a:xfrm>
            <a:off x="7901788" y="2514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AUV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170268" y="3108960"/>
            <a:ext cx="3474720" cy="1911096"/>
          </a:xfrm>
          <a:prstGeom prst="blockArc">
            <a:avLst>
              <a:gd name="adj1" fmla="val 10800000"/>
              <a:gd name="adj2" fmla="val 21600000"/>
            </a:avLst>
          </a:prstGeom>
          <a:ln w="28575">
            <a:solidFill>
              <a:srgbClr val="1C729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18908" y="3108960"/>
            <a:ext cx="2377440" cy="1307592"/>
          </a:xfrm>
          <a:prstGeom prst="blockArc">
            <a:avLst>
              <a:gd name="adj1" fmla="val 10800000"/>
              <a:gd name="adj2" fmla="val 21600000"/>
            </a:avLst>
          </a:prstGeom>
          <a:ln w="28575">
            <a:solidFill>
              <a:srgbClr val="1C729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67548" y="3108960"/>
            <a:ext cx="1280160" cy="704088"/>
          </a:xfrm>
          <a:prstGeom prst="blockArc">
            <a:avLst>
              <a:gd name="adj1" fmla="val 10800000"/>
              <a:gd name="adj2" fmla="val 21600000"/>
            </a:avLst>
          </a:prstGeom>
          <a:ln w="28575">
            <a:solidFill>
              <a:srgbClr val="1C729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63640" y="4160520"/>
            <a:ext cx="5287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Side-scan sonar waveform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0" y="4453128"/>
            <a:ext cx="5013655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46520" y="4453128"/>
            <a:ext cx="4922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〰  adaptive chirp — Fc, BW &amp; pulse change with environment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257800"/>
            <a:ext cx="1116254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</p:sp>
      <p:sp>
        <p:nvSpPr>
          <p:cNvPr id="24" name="Text 21"/>
          <p:cNvSpPr/>
          <p:nvPr/>
        </p:nvSpPr>
        <p:spPr>
          <a:xfrm>
            <a:off x="6263640" y="5257800"/>
            <a:ext cx="1116254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UNDERWATER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398182" y="5458968"/>
            <a:ext cx="237744" cy="164592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26" name="Shape 23"/>
          <p:cNvSpPr/>
          <p:nvPr/>
        </p:nvSpPr>
        <p:spPr>
          <a:xfrm>
            <a:off x="7654214" y="5257800"/>
            <a:ext cx="1116254" cy="566928"/>
          </a:xfrm>
          <a:prstGeom prst="roundRect">
            <a:avLst>
              <a:gd name="adj" fmla="val 9677"/>
            </a:avLst>
          </a:prstGeom>
          <a:solidFill>
            <a:srgbClr val="21295C"/>
          </a:solidFill>
          <a:ln/>
        </p:spPr>
      </p:sp>
      <p:sp>
        <p:nvSpPr>
          <p:cNvPr id="27" name="Text 24"/>
          <p:cNvSpPr/>
          <p:nvPr/>
        </p:nvSpPr>
        <p:spPr>
          <a:xfrm>
            <a:off x="7654214" y="5257800"/>
            <a:ext cx="1116254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AUV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788756" y="5458968"/>
            <a:ext cx="237744" cy="164592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29" name="Shape 26"/>
          <p:cNvSpPr/>
          <p:nvPr/>
        </p:nvSpPr>
        <p:spPr>
          <a:xfrm>
            <a:off x="9044788" y="5257800"/>
            <a:ext cx="1116254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30" name="Text 27"/>
          <p:cNvSpPr/>
          <p:nvPr/>
        </p:nvSpPr>
        <p:spPr>
          <a:xfrm>
            <a:off x="9044788" y="5257800"/>
            <a:ext cx="1116254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0179329" y="5458968"/>
            <a:ext cx="237744" cy="164592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32" name="Shape 29"/>
          <p:cNvSpPr/>
          <p:nvPr/>
        </p:nvSpPr>
        <p:spPr>
          <a:xfrm>
            <a:off x="10435361" y="5257800"/>
            <a:ext cx="1116254" cy="566928"/>
          </a:xfrm>
          <a:prstGeom prst="roundRect">
            <a:avLst>
              <a:gd name="adj" fmla="val 9677"/>
            </a:avLst>
          </a:prstGeom>
          <a:solidFill>
            <a:srgbClr val="D9731A"/>
          </a:solidFill>
          <a:ln/>
        </p:spPr>
      </p:sp>
      <p:sp>
        <p:nvSpPr>
          <p:cNvPr id="33" name="Text 30"/>
          <p:cNvSpPr/>
          <p:nvPr/>
        </p:nvSpPr>
        <p:spPr>
          <a:xfrm>
            <a:off x="10435361" y="5257800"/>
            <a:ext cx="1116254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1417320" cy="7772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8064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Name</a:t>
            </a:r>
            <a:endParaRPr lang="en-US" sz="1100" dirty="0"/>
          </a:p>
        </p:txBody>
      </p:sp>
      <p:pic>
        <p:nvPicPr>
          <p:cNvPr id="4" name="Image 0" descr="/home/claude/build/assets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201168"/>
            <a:ext cx="1417320" cy="7223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64592"/>
            <a:ext cx="8534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TITLE — PROPOSED SOLUTION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" y="914400"/>
            <a:ext cx="11460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Environment-aware closed-loop sonar transmitter: senses ocean conditions, adapts and generates the waveform, transmits, then validates and re-optimises in real time.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65760" y="1371600"/>
            <a:ext cx="1527440" cy="621792"/>
          </a:xfrm>
          <a:prstGeom prst="roundRect">
            <a:avLst>
              <a:gd name="adj" fmla="val 7353"/>
            </a:avLst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371600"/>
            <a:ext cx="1527440" cy="6217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830" dirty="0"/>
          </a:p>
        </p:txBody>
      </p:sp>
      <p:sp>
        <p:nvSpPr>
          <p:cNvPr id="10" name="Shape 7"/>
          <p:cNvSpPr/>
          <p:nvPr/>
        </p:nvSpPr>
        <p:spPr>
          <a:xfrm>
            <a:off x="1897772" y="1623060"/>
            <a:ext cx="192024" cy="118872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11" name="Shape 8"/>
          <p:cNvSpPr/>
          <p:nvPr/>
        </p:nvSpPr>
        <p:spPr>
          <a:xfrm>
            <a:off x="2021216" y="1371600"/>
            <a:ext cx="1527440" cy="621792"/>
          </a:xfrm>
          <a:prstGeom prst="roundRect">
            <a:avLst>
              <a:gd name="adj" fmla="val 7353"/>
            </a:avLst>
          </a:prstGeom>
          <a:solidFill>
            <a:srgbClr val="065A82"/>
          </a:solidFill>
          <a:ln/>
        </p:spPr>
      </p:sp>
      <p:sp>
        <p:nvSpPr>
          <p:cNvPr id="12" name="Text 9"/>
          <p:cNvSpPr/>
          <p:nvPr/>
        </p:nvSpPr>
        <p:spPr>
          <a:xfrm>
            <a:off x="2021216" y="1371600"/>
            <a:ext cx="1527440" cy="6217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3553228" y="1623060"/>
            <a:ext cx="192024" cy="118872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14" name="Shape 11"/>
          <p:cNvSpPr/>
          <p:nvPr/>
        </p:nvSpPr>
        <p:spPr>
          <a:xfrm>
            <a:off x="3676672" y="1371600"/>
            <a:ext cx="1527440" cy="621792"/>
          </a:xfrm>
          <a:prstGeom prst="roundRect">
            <a:avLst>
              <a:gd name="adj" fmla="val 7353"/>
            </a:avLst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3676672" y="1371600"/>
            <a:ext cx="1527440" cy="6217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830" dirty="0"/>
          </a:p>
        </p:txBody>
      </p:sp>
      <p:sp>
        <p:nvSpPr>
          <p:cNvPr id="16" name="Shape 13"/>
          <p:cNvSpPr/>
          <p:nvPr/>
        </p:nvSpPr>
        <p:spPr>
          <a:xfrm>
            <a:off x="5208684" y="1623060"/>
            <a:ext cx="192024" cy="118872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17" name="Shape 14"/>
          <p:cNvSpPr/>
          <p:nvPr/>
        </p:nvSpPr>
        <p:spPr>
          <a:xfrm>
            <a:off x="5332128" y="1371600"/>
            <a:ext cx="1527440" cy="621792"/>
          </a:xfrm>
          <a:prstGeom prst="roundRect">
            <a:avLst>
              <a:gd name="adj" fmla="val 7353"/>
            </a:avLst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5332128" y="1371600"/>
            <a:ext cx="1527440" cy="6217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830" dirty="0"/>
          </a:p>
        </p:txBody>
      </p:sp>
      <p:sp>
        <p:nvSpPr>
          <p:cNvPr id="19" name="Shape 16"/>
          <p:cNvSpPr/>
          <p:nvPr/>
        </p:nvSpPr>
        <p:spPr>
          <a:xfrm>
            <a:off x="6864140" y="1623060"/>
            <a:ext cx="192024" cy="118872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20" name="Shape 17"/>
          <p:cNvSpPr/>
          <p:nvPr/>
        </p:nvSpPr>
        <p:spPr>
          <a:xfrm>
            <a:off x="6987584" y="1371600"/>
            <a:ext cx="1527440" cy="621792"/>
          </a:xfrm>
          <a:prstGeom prst="roundRect">
            <a:avLst>
              <a:gd name="adj" fmla="val 7353"/>
            </a:avLst>
          </a:prstGeom>
          <a:solidFill>
            <a:srgbClr val="D9731A"/>
          </a:solidFill>
          <a:ln/>
        </p:spPr>
      </p:sp>
      <p:sp>
        <p:nvSpPr>
          <p:cNvPr id="21" name="Text 18"/>
          <p:cNvSpPr/>
          <p:nvPr/>
        </p:nvSpPr>
        <p:spPr>
          <a:xfrm>
            <a:off x="6987584" y="1371600"/>
            <a:ext cx="1527440" cy="6217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830" dirty="0"/>
          </a:p>
        </p:txBody>
      </p:sp>
      <p:sp>
        <p:nvSpPr>
          <p:cNvPr id="22" name="Shape 19"/>
          <p:cNvSpPr/>
          <p:nvPr/>
        </p:nvSpPr>
        <p:spPr>
          <a:xfrm>
            <a:off x="8519595" y="1623060"/>
            <a:ext cx="192024" cy="118872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23" name="Shape 20"/>
          <p:cNvSpPr/>
          <p:nvPr/>
        </p:nvSpPr>
        <p:spPr>
          <a:xfrm>
            <a:off x="8643039" y="1371600"/>
            <a:ext cx="1527440" cy="621792"/>
          </a:xfrm>
          <a:prstGeom prst="roundRect">
            <a:avLst>
              <a:gd name="adj" fmla="val 7353"/>
            </a:avLst>
          </a:prstGeom>
          <a:solidFill>
            <a:srgbClr val="21295C"/>
          </a:solidFill>
          <a:ln/>
        </p:spPr>
      </p:sp>
      <p:sp>
        <p:nvSpPr>
          <p:cNvPr id="24" name="Text 21"/>
          <p:cNvSpPr/>
          <p:nvPr/>
        </p:nvSpPr>
        <p:spPr>
          <a:xfrm>
            <a:off x="8643039" y="1371600"/>
            <a:ext cx="1527440" cy="6217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30" dirty="0"/>
          </a:p>
        </p:txBody>
      </p:sp>
      <p:sp>
        <p:nvSpPr>
          <p:cNvPr id="25" name="Shape 22"/>
          <p:cNvSpPr/>
          <p:nvPr/>
        </p:nvSpPr>
        <p:spPr>
          <a:xfrm>
            <a:off x="10175051" y="1623060"/>
            <a:ext cx="192024" cy="118872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8495" y="1371600"/>
            <a:ext cx="1527440" cy="621792"/>
          </a:xfrm>
          <a:prstGeom prst="roundRect">
            <a:avLst>
              <a:gd name="adj" fmla="val 7353"/>
            </a:avLst>
          </a:prstGeom>
          <a:solidFill>
            <a:srgbClr val="2E7D45"/>
          </a:solidFill>
          <a:ln/>
        </p:spPr>
      </p:sp>
      <p:sp>
        <p:nvSpPr>
          <p:cNvPr id="27" name="Text 24"/>
          <p:cNvSpPr/>
          <p:nvPr/>
        </p:nvSpPr>
        <p:spPr>
          <a:xfrm>
            <a:off x="10298495" y="1371600"/>
            <a:ext cx="1527440" cy="6217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RE-OPTIMISATION</a:t>
            </a:r>
            <a:endParaRPr lang="en-US" sz="830" dirty="0"/>
          </a:p>
        </p:txBody>
      </p:sp>
      <p:sp>
        <p:nvSpPr>
          <p:cNvPr id="28" name="Shape 25"/>
          <p:cNvSpPr/>
          <p:nvPr/>
        </p:nvSpPr>
        <p:spPr>
          <a:xfrm>
            <a:off x="365760" y="2139696"/>
            <a:ext cx="11460175" cy="0"/>
          </a:xfrm>
          <a:prstGeom prst="line">
            <a:avLst/>
          </a:prstGeom>
          <a:noFill/>
          <a:ln w="15875">
            <a:solidFill>
              <a:srgbClr val="2E7D45"/>
            </a:solidFill>
            <a:prstDash val="dash"/>
          </a:ln>
        </p:spPr>
      </p:sp>
      <p:sp>
        <p:nvSpPr>
          <p:cNvPr id="29" name="Text 26"/>
          <p:cNvSpPr/>
          <p:nvPr/>
        </p:nvSpPr>
        <p:spPr>
          <a:xfrm>
            <a:off x="365760" y="2194560"/>
            <a:ext cx="1146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E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adaptation — every pulse re-informs the next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65760" y="2514600"/>
            <a:ext cx="3667658" cy="1874520"/>
          </a:xfrm>
          <a:prstGeom prst="roundRect">
            <a:avLst>
              <a:gd name="adj" fmla="val 2927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65760" y="2514600"/>
            <a:ext cx="3667658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</p:sp>
      <p:sp>
        <p:nvSpPr>
          <p:cNvPr id="32" name="Shape 29"/>
          <p:cNvSpPr/>
          <p:nvPr/>
        </p:nvSpPr>
        <p:spPr>
          <a:xfrm>
            <a:off x="365760" y="2697480"/>
            <a:ext cx="3667658" cy="182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3" name="Text 30"/>
          <p:cNvSpPr/>
          <p:nvPr/>
        </p:nvSpPr>
        <p:spPr>
          <a:xfrm>
            <a:off x="502920" y="2514600"/>
            <a:ext cx="3393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SENSE</a:t>
            </a:r>
            <a:endParaRPr lang="en-US" sz="1200" dirty="0"/>
          </a:p>
        </p:txBody>
      </p:sp>
      <p:pic>
        <p:nvPicPr>
          <p:cNvPr id="34" name="Image 1" descr="/home/claude/build/assets/badges/sense_turbid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90088"/>
            <a:ext cx="310896" cy="310896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914400" y="3017520"/>
            <a:ext cx="29818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Turbidity</a:t>
            </a:r>
            <a:endParaRPr lang="en-US" sz="1100" dirty="0"/>
          </a:p>
        </p:txBody>
      </p:sp>
      <p:pic>
        <p:nvPicPr>
          <p:cNvPr id="36" name="Image 2" descr="/home/claude/build/assets/badges/sense_dept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46120"/>
            <a:ext cx="310896" cy="310896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914400" y="3273552"/>
            <a:ext cx="29818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100" dirty="0"/>
          </a:p>
        </p:txBody>
      </p:sp>
      <p:pic>
        <p:nvPicPr>
          <p:cNvPr id="38" name="Image 3" descr="/home/claude/build/assets/badges/sense_te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502152"/>
            <a:ext cx="310896" cy="310896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914400" y="3529584"/>
            <a:ext cx="29818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100" dirty="0"/>
          </a:p>
        </p:txBody>
      </p:sp>
      <p:pic>
        <p:nvPicPr>
          <p:cNvPr id="40" name="Image 4" descr="/home/claude/build/assets/badges/sense_salinit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758184"/>
            <a:ext cx="310896" cy="31089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14400" y="3785616"/>
            <a:ext cx="29818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Salinity</a:t>
            </a:r>
            <a:endParaRPr lang="en-US" sz="1100" dirty="0"/>
          </a:p>
        </p:txBody>
      </p:sp>
      <p:pic>
        <p:nvPicPr>
          <p:cNvPr id="42" name="Image 5" descr="/home/claude/build/assets/badges/sense_batter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014216"/>
            <a:ext cx="310896" cy="310896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14400" y="4041648"/>
            <a:ext cx="29818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level</a:t>
            </a:r>
            <a:endParaRPr lang="en-US" sz="1100" dirty="0"/>
          </a:p>
        </p:txBody>
      </p:sp>
      <p:sp>
        <p:nvSpPr>
          <p:cNvPr id="44" name="Shape 36"/>
          <p:cNvSpPr/>
          <p:nvPr/>
        </p:nvSpPr>
        <p:spPr>
          <a:xfrm>
            <a:off x="4262018" y="2514600"/>
            <a:ext cx="3667658" cy="1874520"/>
          </a:xfrm>
          <a:prstGeom prst="roundRect">
            <a:avLst>
              <a:gd name="adj" fmla="val 2927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4262018" y="2514600"/>
            <a:ext cx="3667658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46" name="Shape 38"/>
          <p:cNvSpPr/>
          <p:nvPr/>
        </p:nvSpPr>
        <p:spPr>
          <a:xfrm>
            <a:off x="4262018" y="2697480"/>
            <a:ext cx="3667658" cy="182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7" name="Text 39"/>
          <p:cNvSpPr/>
          <p:nvPr/>
        </p:nvSpPr>
        <p:spPr>
          <a:xfrm>
            <a:off x="4399178" y="2514600"/>
            <a:ext cx="3393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ADAPT</a:t>
            </a:r>
            <a:endParaRPr lang="en-US" sz="1200" dirty="0"/>
          </a:p>
        </p:txBody>
      </p:sp>
      <p:pic>
        <p:nvPicPr>
          <p:cNvPr id="48" name="Image 6" descr="/home/claude/build/assets/badges/adapt_freq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9178" y="3022092"/>
            <a:ext cx="310896" cy="310896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4810658" y="3017520"/>
            <a:ext cx="2981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frequency &amp; bandwidth</a:t>
            </a:r>
            <a:endParaRPr lang="en-US" sz="1100" dirty="0"/>
          </a:p>
        </p:txBody>
      </p:sp>
      <p:pic>
        <p:nvPicPr>
          <p:cNvPr id="50" name="Image 7" descr="/home/claude/build/assets/badges/adapt_puls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9178" y="3342132"/>
            <a:ext cx="310896" cy="310896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4810658" y="3337560"/>
            <a:ext cx="2981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duration &amp; amplitude</a:t>
            </a:r>
            <a:endParaRPr lang="en-US" sz="1100" dirty="0"/>
          </a:p>
        </p:txBody>
      </p:sp>
      <p:pic>
        <p:nvPicPr>
          <p:cNvPr id="52" name="Image 8" descr="/home/claude/build/assets/badges/adapt_typ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99178" y="3662172"/>
            <a:ext cx="310896" cy="310896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4810658" y="3657600"/>
            <a:ext cx="2981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type</a:t>
            </a:r>
            <a:endParaRPr lang="en-US" sz="1100" dirty="0"/>
          </a:p>
        </p:txBody>
      </p:sp>
      <p:pic>
        <p:nvPicPr>
          <p:cNvPr id="54" name="Image 9" descr="/home/claude/build/assets/badges/adapt_windo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99178" y="3982212"/>
            <a:ext cx="310896" cy="310896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4810658" y="3977640"/>
            <a:ext cx="2981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Windowing function</a:t>
            </a:r>
            <a:endParaRPr lang="en-US" sz="1100" dirty="0"/>
          </a:p>
        </p:txBody>
      </p:sp>
      <p:sp>
        <p:nvSpPr>
          <p:cNvPr id="56" name="Shape 44"/>
          <p:cNvSpPr/>
          <p:nvPr/>
        </p:nvSpPr>
        <p:spPr>
          <a:xfrm>
            <a:off x="8158277" y="2514600"/>
            <a:ext cx="3667658" cy="1874520"/>
          </a:xfrm>
          <a:prstGeom prst="roundRect">
            <a:avLst>
              <a:gd name="adj" fmla="val 2927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sp>
        <p:nvSpPr>
          <p:cNvPr id="57" name="Shape 45"/>
          <p:cNvSpPr/>
          <p:nvPr/>
        </p:nvSpPr>
        <p:spPr>
          <a:xfrm>
            <a:off x="8158277" y="2514600"/>
            <a:ext cx="3667658" cy="365760"/>
          </a:xfrm>
          <a:prstGeom prst="roundRect">
            <a:avLst>
              <a:gd name="adj" fmla="val 15000"/>
            </a:avLst>
          </a:prstGeom>
          <a:solidFill>
            <a:srgbClr val="21295C"/>
          </a:solidFill>
          <a:ln/>
        </p:spPr>
      </p:sp>
      <p:sp>
        <p:nvSpPr>
          <p:cNvPr id="58" name="Shape 46"/>
          <p:cNvSpPr/>
          <p:nvPr/>
        </p:nvSpPr>
        <p:spPr>
          <a:xfrm>
            <a:off x="8158277" y="2697480"/>
            <a:ext cx="3667658" cy="1828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9" name="Text 47"/>
          <p:cNvSpPr/>
          <p:nvPr/>
        </p:nvSpPr>
        <p:spPr>
          <a:xfrm>
            <a:off x="8295437" y="2514600"/>
            <a:ext cx="3393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VALIDATE</a:t>
            </a:r>
            <a:endParaRPr lang="en-US" sz="1200" dirty="0"/>
          </a:p>
        </p:txBody>
      </p:sp>
      <p:pic>
        <p:nvPicPr>
          <p:cNvPr id="60" name="Image 10" descr="/home/claude/build/assets/badges/valid_ff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95437" y="3022092"/>
            <a:ext cx="310896" cy="310896"/>
          </a:xfrm>
          <a:prstGeom prst="rect">
            <a:avLst/>
          </a:prstGeom>
        </p:spPr>
      </p:pic>
      <p:sp>
        <p:nvSpPr>
          <p:cNvPr id="61" name="Text 48"/>
          <p:cNvSpPr/>
          <p:nvPr/>
        </p:nvSpPr>
        <p:spPr>
          <a:xfrm>
            <a:off x="8706917" y="3017520"/>
            <a:ext cx="2981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&amp; spectrogram</a:t>
            </a:r>
            <a:endParaRPr lang="en-US" sz="1100" dirty="0"/>
          </a:p>
        </p:txBody>
      </p:sp>
      <p:pic>
        <p:nvPicPr>
          <p:cNvPr id="62" name="Image 11" descr="/home/claude/build/assets/badges/valid_erro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95437" y="3342132"/>
            <a:ext cx="310896" cy="310896"/>
          </a:xfrm>
          <a:prstGeom prst="rect">
            <a:avLst/>
          </a:prstGeom>
        </p:spPr>
      </p:pic>
      <p:sp>
        <p:nvSpPr>
          <p:cNvPr id="63" name="Text 49"/>
          <p:cNvSpPr/>
          <p:nvPr/>
        </p:nvSpPr>
        <p:spPr>
          <a:xfrm>
            <a:off x="8706917" y="3337560"/>
            <a:ext cx="2981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/ bandwidth error</a:t>
            </a:r>
            <a:endParaRPr lang="en-US" sz="1100" dirty="0"/>
          </a:p>
        </p:txBody>
      </p:sp>
      <p:pic>
        <p:nvPicPr>
          <p:cNvPr id="64" name="Image 12" descr="/home/claude/build/assets/badges/valid_snr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95437" y="3662172"/>
            <a:ext cx="310896" cy="310896"/>
          </a:xfrm>
          <a:prstGeom prst="rect">
            <a:avLst/>
          </a:prstGeom>
        </p:spPr>
      </p:pic>
      <p:sp>
        <p:nvSpPr>
          <p:cNvPr id="65" name="Text 50"/>
          <p:cNvSpPr/>
          <p:nvPr/>
        </p:nvSpPr>
        <p:spPr>
          <a:xfrm>
            <a:off x="8706917" y="3657600"/>
            <a:ext cx="2981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</a:t>
            </a:r>
            <a:endParaRPr lang="en-US" sz="1100" dirty="0"/>
          </a:p>
        </p:txBody>
      </p:sp>
      <p:pic>
        <p:nvPicPr>
          <p:cNvPr id="66" name="Image 13" descr="/home/claude/build/assets/badges/valid_sidelob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95437" y="3982212"/>
            <a:ext cx="310896" cy="310896"/>
          </a:xfrm>
          <a:prstGeom prst="rect">
            <a:avLst/>
          </a:prstGeom>
        </p:spPr>
      </p:pic>
      <p:sp>
        <p:nvSpPr>
          <p:cNvPr id="67" name="Text 51"/>
          <p:cNvSpPr/>
          <p:nvPr/>
        </p:nvSpPr>
        <p:spPr>
          <a:xfrm>
            <a:off x="8706917" y="3977640"/>
            <a:ext cx="2981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Sidelobe level</a:t>
            </a:r>
            <a:endParaRPr lang="en-US" sz="1100" dirty="0"/>
          </a:p>
        </p:txBody>
      </p:sp>
      <p:sp>
        <p:nvSpPr>
          <p:cNvPr id="68" name="Shape 52"/>
          <p:cNvSpPr/>
          <p:nvPr/>
        </p:nvSpPr>
        <p:spPr>
          <a:xfrm>
            <a:off x="365760" y="4617720"/>
            <a:ext cx="6492240" cy="150876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sp>
        <p:nvSpPr>
          <p:cNvPr id="69" name="Text 53"/>
          <p:cNvSpPr/>
          <p:nvPr/>
        </p:nvSpPr>
        <p:spPr>
          <a:xfrm>
            <a:off x="548640" y="470916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DIFFERENT</a:t>
            </a:r>
            <a:endParaRPr lang="en-US" sz="1200" dirty="0"/>
          </a:p>
        </p:txBody>
      </p:sp>
      <p:sp>
        <p:nvSpPr>
          <p:cNvPr id="70" name="Text 54"/>
          <p:cNvSpPr/>
          <p:nvPr/>
        </p:nvSpPr>
        <p:spPr>
          <a:xfrm>
            <a:off x="548640" y="5038344"/>
            <a:ext cx="278892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Environment-aware waveform adaptation, not a fixed pulse</a:t>
            </a:r>
            <a:endParaRPr lang="en-US" sz="1050" dirty="0"/>
          </a:p>
        </p:txBody>
      </p:sp>
      <p:sp>
        <p:nvSpPr>
          <p:cNvPr id="71" name="Text 55"/>
          <p:cNvSpPr/>
          <p:nvPr/>
        </p:nvSpPr>
        <p:spPr>
          <a:xfrm>
            <a:off x="548640" y="5370576"/>
            <a:ext cx="278892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waveform families: LFM, geometric sweep, phase-coded</a:t>
            </a:r>
            <a:endParaRPr lang="en-US" sz="1050" dirty="0"/>
          </a:p>
        </p:txBody>
      </p:sp>
      <p:sp>
        <p:nvSpPr>
          <p:cNvPr id="72" name="Text 56"/>
          <p:cNvSpPr/>
          <p:nvPr/>
        </p:nvSpPr>
        <p:spPr>
          <a:xfrm>
            <a:off x="548640" y="5702808"/>
            <a:ext cx="278892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low-power generation on STM32-class hardware</a:t>
            </a:r>
            <a:endParaRPr lang="en-US" sz="1050" dirty="0"/>
          </a:p>
        </p:txBody>
      </p:sp>
      <p:sp>
        <p:nvSpPr>
          <p:cNvPr id="73" name="Text 57"/>
          <p:cNvSpPr/>
          <p:nvPr/>
        </p:nvSpPr>
        <p:spPr>
          <a:xfrm>
            <a:off x="3794760" y="5038344"/>
            <a:ext cx="278892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 + hardware-timer streaming — CPU stays free</a:t>
            </a:r>
            <a:endParaRPr lang="en-US" sz="1050" dirty="0"/>
          </a:p>
        </p:txBody>
      </p:sp>
      <p:sp>
        <p:nvSpPr>
          <p:cNvPr id="74" name="Text 58"/>
          <p:cNvSpPr/>
          <p:nvPr/>
        </p:nvSpPr>
        <p:spPr>
          <a:xfrm>
            <a:off x="3794760" y="5370576"/>
            <a:ext cx="278892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signal validation after every pulse</a:t>
            </a:r>
            <a:endParaRPr lang="en-US" sz="1050" dirty="0"/>
          </a:p>
        </p:txBody>
      </p:sp>
      <p:sp>
        <p:nvSpPr>
          <p:cNvPr id="75" name="Text 59"/>
          <p:cNvSpPr/>
          <p:nvPr/>
        </p:nvSpPr>
        <p:spPr>
          <a:xfrm>
            <a:off x="3794760" y="5702808"/>
            <a:ext cx="278892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Battery-aware optimisation for longer missions</a:t>
            </a:r>
            <a:endParaRPr lang="en-US" sz="1050" dirty="0"/>
          </a:p>
        </p:txBody>
      </p:sp>
      <p:sp>
        <p:nvSpPr>
          <p:cNvPr id="76" name="Shape 60"/>
          <p:cNvSpPr/>
          <p:nvPr/>
        </p:nvSpPr>
        <p:spPr>
          <a:xfrm>
            <a:off x="7132320" y="4617720"/>
            <a:ext cx="4693615" cy="1508760"/>
          </a:xfrm>
          <a:prstGeom prst="roundRect">
            <a:avLst>
              <a:gd name="adj" fmla="val 3636"/>
            </a:avLst>
          </a:prstGeom>
          <a:solidFill>
            <a:srgbClr val="21295C"/>
          </a:solidFill>
          <a:ln/>
        </p:spPr>
      </p:sp>
      <p:sp>
        <p:nvSpPr>
          <p:cNvPr id="77" name="Text 61"/>
          <p:cNvSpPr/>
          <p:nvPr/>
        </p:nvSpPr>
        <p:spPr>
          <a:xfrm>
            <a:off x="7315200" y="4690872"/>
            <a:ext cx="4327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EVIDENCE — ASIE DASHBOARD</a:t>
            </a:r>
            <a:endParaRPr lang="en-US" sz="1050" dirty="0"/>
          </a:p>
        </p:txBody>
      </p:sp>
      <p:sp>
        <p:nvSpPr>
          <p:cNvPr id="78" name="Shape 62"/>
          <p:cNvSpPr/>
          <p:nvPr/>
        </p:nvSpPr>
        <p:spPr>
          <a:xfrm>
            <a:off x="7315200" y="4983480"/>
            <a:ext cx="1369466" cy="329184"/>
          </a:xfrm>
          <a:prstGeom prst="roundRect">
            <a:avLst>
              <a:gd name="adj" fmla="val 13889"/>
            </a:avLst>
          </a:prstGeom>
          <a:solidFill>
            <a:srgbClr val="2C3B6B"/>
          </a:solidFill>
          <a:ln/>
        </p:spPr>
      </p:sp>
      <p:pic>
        <p:nvPicPr>
          <p:cNvPr id="79" name="Image 14" descr="/home/claude/build/assets/badges/dash_liv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70064" y="5038344"/>
            <a:ext cx="219456" cy="219456"/>
          </a:xfrm>
          <a:prstGeom prst="rect">
            <a:avLst/>
          </a:prstGeom>
        </p:spPr>
      </p:pic>
      <p:sp>
        <p:nvSpPr>
          <p:cNvPr id="80" name="Text 63"/>
          <p:cNvSpPr/>
          <p:nvPr/>
        </p:nvSpPr>
        <p:spPr>
          <a:xfrm>
            <a:off x="7607808" y="4983480"/>
            <a:ext cx="1040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Waveform</a:t>
            </a:r>
            <a:endParaRPr lang="en-US" sz="830" dirty="0"/>
          </a:p>
        </p:txBody>
      </p:sp>
      <p:sp>
        <p:nvSpPr>
          <p:cNvPr id="81" name="Shape 64"/>
          <p:cNvSpPr/>
          <p:nvPr/>
        </p:nvSpPr>
        <p:spPr>
          <a:xfrm>
            <a:off x="8794394" y="4983480"/>
            <a:ext cx="1369466" cy="329184"/>
          </a:xfrm>
          <a:prstGeom prst="roundRect">
            <a:avLst>
              <a:gd name="adj" fmla="val 13889"/>
            </a:avLst>
          </a:prstGeom>
          <a:solidFill>
            <a:srgbClr val="2C3B6B"/>
          </a:solidFill>
          <a:ln/>
        </p:spPr>
      </p:sp>
      <p:pic>
        <p:nvPicPr>
          <p:cNvPr id="82" name="Image 15" descr="/home/claude/build/assets/badges/dash_spectrogram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49258" y="5038344"/>
            <a:ext cx="219456" cy="219456"/>
          </a:xfrm>
          <a:prstGeom prst="rect">
            <a:avLst/>
          </a:prstGeom>
        </p:spPr>
      </p:pic>
      <p:sp>
        <p:nvSpPr>
          <p:cNvPr id="83" name="Text 65"/>
          <p:cNvSpPr/>
          <p:nvPr/>
        </p:nvSpPr>
        <p:spPr>
          <a:xfrm>
            <a:off x="9087002" y="4983480"/>
            <a:ext cx="1040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</a:t>
            </a:r>
            <a:endParaRPr lang="en-US" sz="830" dirty="0"/>
          </a:p>
        </p:txBody>
      </p:sp>
      <p:sp>
        <p:nvSpPr>
          <p:cNvPr id="84" name="Shape 66"/>
          <p:cNvSpPr/>
          <p:nvPr/>
        </p:nvSpPr>
        <p:spPr>
          <a:xfrm>
            <a:off x="10273589" y="4983480"/>
            <a:ext cx="1369466" cy="329184"/>
          </a:xfrm>
          <a:prstGeom prst="roundRect">
            <a:avLst>
              <a:gd name="adj" fmla="val 13889"/>
            </a:avLst>
          </a:prstGeom>
          <a:solidFill>
            <a:srgbClr val="2C3B6B"/>
          </a:solidFill>
          <a:ln/>
        </p:spPr>
      </p:sp>
      <p:pic>
        <p:nvPicPr>
          <p:cNvPr id="85" name="Image 16" descr="/home/claude/build/assets/badges/dash_fft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28453" y="5038344"/>
            <a:ext cx="219456" cy="219456"/>
          </a:xfrm>
          <a:prstGeom prst="rect">
            <a:avLst/>
          </a:prstGeom>
        </p:spPr>
      </p:pic>
      <p:sp>
        <p:nvSpPr>
          <p:cNvPr id="86" name="Text 67"/>
          <p:cNvSpPr/>
          <p:nvPr/>
        </p:nvSpPr>
        <p:spPr>
          <a:xfrm>
            <a:off x="10566197" y="4983480"/>
            <a:ext cx="1040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</a:t>
            </a:r>
            <a:endParaRPr lang="en-US" sz="830" dirty="0"/>
          </a:p>
        </p:txBody>
      </p:sp>
      <p:sp>
        <p:nvSpPr>
          <p:cNvPr id="87" name="Shape 68"/>
          <p:cNvSpPr/>
          <p:nvPr/>
        </p:nvSpPr>
        <p:spPr>
          <a:xfrm>
            <a:off x="7315200" y="5367528"/>
            <a:ext cx="1369466" cy="329184"/>
          </a:xfrm>
          <a:prstGeom prst="roundRect">
            <a:avLst>
              <a:gd name="adj" fmla="val 13889"/>
            </a:avLst>
          </a:prstGeom>
          <a:solidFill>
            <a:srgbClr val="2C3B6B"/>
          </a:solidFill>
          <a:ln/>
        </p:spPr>
      </p:sp>
      <p:pic>
        <p:nvPicPr>
          <p:cNvPr id="88" name="Image 17" descr="/home/claude/build/assets/badges/dash_quality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70064" y="5422392"/>
            <a:ext cx="219456" cy="219456"/>
          </a:xfrm>
          <a:prstGeom prst="rect">
            <a:avLst/>
          </a:prstGeom>
        </p:spPr>
      </p:pic>
      <p:sp>
        <p:nvSpPr>
          <p:cNvPr id="89" name="Text 69"/>
          <p:cNvSpPr/>
          <p:nvPr/>
        </p:nvSpPr>
        <p:spPr>
          <a:xfrm>
            <a:off x="7607808" y="5367528"/>
            <a:ext cx="1040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Quality</a:t>
            </a:r>
            <a:endParaRPr lang="en-US" sz="830" dirty="0"/>
          </a:p>
        </p:txBody>
      </p:sp>
      <p:sp>
        <p:nvSpPr>
          <p:cNvPr id="90" name="Shape 70"/>
          <p:cNvSpPr/>
          <p:nvPr/>
        </p:nvSpPr>
        <p:spPr>
          <a:xfrm>
            <a:off x="8794394" y="5367528"/>
            <a:ext cx="1369466" cy="329184"/>
          </a:xfrm>
          <a:prstGeom prst="roundRect">
            <a:avLst>
              <a:gd name="adj" fmla="val 13889"/>
            </a:avLst>
          </a:prstGeom>
          <a:solidFill>
            <a:srgbClr val="2C3B6B"/>
          </a:solidFill>
          <a:ln/>
        </p:spPr>
      </p:sp>
      <p:pic>
        <p:nvPicPr>
          <p:cNvPr id="91" name="Image 18" descr="/home/claude/build/assets/badges/dash_optimiser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49258" y="5422392"/>
            <a:ext cx="219456" cy="219456"/>
          </a:xfrm>
          <a:prstGeom prst="rect">
            <a:avLst/>
          </a:prstGeom>
        </p:spPr>
      </p:pic>
      <p:sp>
        <p:nvSpPr>
          <p:cNvPr id="92" name="Text 71"/>
          <p:cNvSpPr/>
          <p:nvPr/>
        </p:nvSpPr>
        <p:spPr>
          <a:xfrm>
            <a:off x="9087002" y="5367528"/>
            <a:ext cx="1040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Optimiser</a:t>
            </a:r>
            <a:endParaRPr lang="en-US" sz="830" dirty="0"/>
          </a:p>
        </p:txBody>
      </p:sp>
      <p:sp>
        <p:nvSpPr>
          <p:cNvPr id="93" name="Shape 72"/>
          <p:cNvSpPr/>
          <p:nvPr/>
        </p:nvSpPr>
        <p:spPr>
          <a:xfrm>
            <a:off x="10273589" y="5367528"/>
            <a:ext cx="1369466" cy="329184"/>
          </a:xfrm>
          <a:prstGeom prst="roundRect">
            <a:avLst>
              <a:gd name="adj" fmla="val 13889"/>
            </a:avLst>
          </a:prstGeom>
          <a:solidFill>
            <a:srgbClr val="2C3B6B"/>
          </a:solidFill>
          <a:ln/>
        </p:spPr>
      </p:sp>
      <p:pic>
        <p:nvPicPr>
          <p:cNvPr id="94" name="Image 19" descr="/home/claude/build/assets/badges/dash_twin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328453" y="5422392"/>
            <a:ext cx="219456" cy="219456"/>
          </a:xfrm>
          <a:prstGeom prst="rect">
            <a:avLst/>
          </a:prstGeom>
        </p:spPr>
      </p:pic>
      <p:sp>
        <p:nvSpPr>
          <p:cNvPr id="95" name="Text 73"/>
          <p:cNvSpPr/>
          <p:nvPr/>
        </p:nvSpPr>
        <p:spPr>
          <a:xfrm>
            <a:off x="10566197" y="5367528"/>
            <a:ext cx="1040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830" dirty="0"/>
          </a:p>
        </p:txBody>
      </p:sp>
      <p:sp>
        <p:nvSpPr>
          <p:cNvPr id="96" name="Text 74"/>
          <p:cNvSpPr/>
          <p:nvPr/>
        </p:nvSpPr>
        <p:spPr>
          <a:xfrm>
            <a:off x="7315200" y="5797296"/>
            <a:ext cx="4327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i="1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multi-screen control dashboard already implemented — used to configure, monitor and validate every transmission.</a:t>
            </a:r>
            <a:endParaRPr lang="en-US" sz="7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1417320" cy="7772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8064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Name</a:t>
            </a:r>
            <a:endParaRPr lang="en-US" sz="1100" dirty="0"/>
          </a:p>
        </p:txBody>
      </p:sp>
      <p:pic>
        <p:nvPicPr>
          <p:cNvPr id="4" name="Image 0" descr="/home/claude/build/assets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201168"/>
            <a:ext cx="1417320" cy="7223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64592"/>
            <a:ext cx="8534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65760" y="960120"/>
            <a:ext cx="653796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" y="96012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 · HARDWARE SIGNAL CHAIN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325880"/>
            <a:ext cx="871293" cy="566928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1325880"/>
            <a:ext cx="871293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Env.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1241625" y="1563624"/>
            <a:ext cx="164592" cy="9144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12" name="Shape 9"/>
          <p:cNvSpPr/>
          <p:nvPr/>
        </p:nvSpPr>
        <p:spPr>
          <a:xfrm>
            <a:off x="1310205" y="1325880"/>
            <a:ext cx="871293" cy="566928"/>
          </a:xfrm>
          <a:prstGeom prst="roundRect">
            <a:avLst>
              <a:gd name="adj" fmla="val 6452"/>
            </a:avLst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1310205" y="1325880"/>
            <a:ext cx="871293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</a:t>
            </a:r>
            <a:endParaRPr lang="en-US" sz="730" dirty="0"/>
          </a:p>
        </p:txBody>
      </p:sp>
      <p:sp>
        <p:nvSpPr>
          <p:cNvPr id="14" name="Shape 11"/>
          <p:cNvSpPr/>
          <p:nvPr/>
        </p:nvSpPr>
        <p:spPr>
          <a:xfrm>
            <a:off x="2186069" y="1563624"/>
            <a:ext cx="164592" cy="9144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15" name="Shape 12"/>
          <p:cNvSpPr/>
          <p:nvPr/>
        </p:nvSpPr>
        <p:spPr>
          <a:xfrm>
            <a:off x="2254649" y="1325880"/>
            <a:ext cx="871293" cy="566928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16" name="Text 13"/>
          <p:cNvSpPr/>
          <p:nvPr/>
        </p:nvSpPr>
        <p:spPr>
          <a:xfrm>
            <a:off x="2254649" y="1325880"/>
            <a:ext cx="871293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730" dirty="0"/>
          </a:p>
        </p:txBody>
      </p:sp>
      <p:sp>
        <p:nvSpPr>
          <p:cNvPr id="17" name="Shape 14"/>
          <p:cNvSpPr/>
          <p:nvPr/>
        </p:nvSpPr>
        <p:spPr>
          <a:xfrm>
            <a:off x="3130514" y="1563624"/>
            <a:ext cx="164592" cy="9144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18" name="Shape 15"/>
          <p:cNvSpPr/>
          <p:nvPr/>
        </p:nvSpPr>
        <p:spPr>
          <a:xfrm>
            <a:off x="3199094" y="1325880"/>
            <a:ext cx="871293" cy="566928"/>
          </a:xfrm>
          <a:prstGeom prst="roundRect">
            <a:avLst>
              <a:gd name="adj" fmla="val 6452"/>
            </a:avLst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3199094" y="1325880"/>
            <a:ext cx="871293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</a:t>
            </a:r>
            <a:endParaRPr lang="en-US" sz="730" dirty="0"/>
          </a:p>
        </p:txBody>
      </p:sp>
      <p:sp>
        <p:nvSpPr>
          <p:cNvPr id="20" name="Shape 17"/>
          <p:cNvSpPr/>
          <p:nvPr/>
        </p:nvSpPr>
        <p:spPr>
          <a:xfrm>
            <a:off x="4074958" y="1563624"/>
            <a:ext cx="164592" cy="9144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21" name="Shape 18"/>
          <p:cNvSpPr/>
          <p:nvPr/>
        </p:nvSpPr>
        <p:spPr>
          <a:xfrm>
            <a:off x="4143538" y="1325880"/>
            <a:ext cx="871293" cy="566928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22" name="Text 19"/>
          <p:cNvSpPr/>
          <p:nvPr/>
        </p:nvSpPr>
        <p:spPr>
          <a:xfrm>
            <a:off x="4143538" y="1325880"/>
            <a:ext cx="871293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LPF +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Op-Amp</a:t>
            </a:r>
            <a:endParaRPr lang="en-US" sz="730" dirty="0"/>
          </a:p>
        </p:txBody>
      </p:sp>
      <p:sp>
        <p:nvSpPr>
          <p:cNvPr id="23" name="Shape 20"/>
          <p:cNvSpPr/>
          <p:nvPr/>
        </p:nvSpPr>
        <p:spPr>
          <a:xfrm>
            <a:off x="5019403" y="1563624"/>
            <a:ext cx="164592" cy="9144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24" name="Shape 21"/>
          <p:cNvSpPr/>
          <p:nvPr/>
        </p:nvSpPr>
        <p:spPr>
          <a:xfrm>
            <a:off x="5087983" y="1325880"/>
            <a:ext cx="871293" cy="566928"/>
          </a:xfrm>
          <a:prstGeom prst="roundRect">
            <a:avLst>
              <a:gd name="adj" fmla="val 6452"/>
            </a:avLst>
          </a:prstGeom>
          <a:solidFill>
            <a:srgbClr val="1C7293"/>
          </a:solidFill>
          <a:ln/>
        </p:spPr>
      </p:sp>
      <p:sp>
        <p:nvSpPr>
          <p:cNvPr id="25" name="Text 22"/>
          <p:cNvSpPr/>
          <p:nvPr/>
        </p:nvSpPr>
        <p:spPr>
          <a:xfrm>
            <a:off x="5087983" y="1325880"/>
            <a:ext cx="871293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Amplifier</a:t>
            </a:r>
            <a:endParaRPr lang="en-US" sz="730" dirty="0"/>
          </a:p>
        </p:txBody>
      </p:sp>
      <p:sp>
        <p:nvSpPr>
          <p:cNvPr id="26" name="Shape 23"/>
          <p:cNvSpPr/>
          <p:nvPr/>
        </p:nvSpPr>
        <p:spPr>
          <a:xfrm>
            <a:off x="5963847" y="1563624"/>
            <a:ext cx="164592" cy="9144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27" name="Shape 24"/>
          <p:cNvSpPr/>
          <p:nvPr/>
        </p:nvSpPr>
        <p:spPr>
          <a:xfrm>
            <a:off x="6032427" y="1325880"/>
            <a:ext cx="871293" cy="566928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28" name="Text 25"/>
          <p:cNvSpPr/>
          <p:nvPr/>
        </p:nvSpPr>
        <p:spPr>
          <a:xfrm>
            <a:off x="6032427" y="1325880"/>
            <a:ext cx="871293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/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730" dirty="0"/>
          </a:p>
        </p:txBody>
      </p:sp>
      <p:sp>
        <p:nvSpPr>
          <p:cNvPr id="29" name="Text 26"/>
          <p:cNvSpPr/>
          <p:nvPr/>
        </p:nvSpPr>
        <p:spPr>
          <a:xfrm>
            <a:off x="365760" y="1947672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controller performs classification, adaptive decisioning, waveform generation, windowing and DMA + timer control internally.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365760" y="2331720"/>
            <a:ext cx="653796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1" name="Text 28"/>
          <p:cNvSpPr/>
          <p:nvPr/>
        </p:nvSpPr>
        <p:spPr>
          <a:xfrm>
            <a:off x="475488" y="233172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 · SOFTWARE / DSP PIPELINE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65760" y="2697480"/>
            <a:ext cx="871293" cy="658368"/>
          </a:xfrm>
          <a:prstGeom prst="roundRect">
            <a:avLst>
              <a:gd name="adj" fmla="val 5556"/>
            </a:avLst>
          </a:prstGeom>
          <a:solidFill>
            <a:srgbClr val="1C7293"/>
          </a:solidFill>
          <a:ln/>
        </p:spPr>
      </p:sp>
      <p:sp>
        <p:nvSpPr>
          <p:cNvPr id="33" name="Text 30"/>
          <p:cNvSpPr/>
          <p:nvPr/>
        </p:nvSpPr>
        <p:spPr>
          <a:xfrm>
            <a:off x="365760" y="2697480"/>
            <a:ext cx="871293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30" dirty="0"/>
          </a:p>
        </p:txBody>
      </p:sp>
      <p:sp>
        <p:nvSpPr>
          <p:cNvPr id="34" name="Shape 31"/>
          <p:cNvSpPr/>
          <p:nvPr/>
        </p:nvSpPr>
        <p:spPr>
          <a:xfrm>
            <a:off x="1241625" y="2980944"/>
            <a:ext cx="164592" cy="9144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35" name="Shape 32"/>
          <p:cNvSpPr/>
          <p:nvPr/>
        </p:nvSpPr>
        <p:spPr>
          <a:xfrm>
            <a:off x="1310205" y="2697480"/>
            <a:ext cx="871293" cy="658368"/>
          </a:xfrm>
          <a:prstGeom prst="roundRect">
            <a:avLst>
              <a:gd name="adj" fmla="val 5556"/>
            </a:avLst>
          </a:prstGeom>
          <a:solidFill>
            <a:srgbClr val="21295C"/>
          </a:solidFill>
          <a:ln/>
        </p:spPr>
      </p:sp>
      <p:sp>
        <p:nvSpPr>
          <p:cNvPr id="36" name="Text 33"/>
          <p:cNvSpPr/>
          <p:nvPr/>
        </p:nvSpPr>
        <p:spPr>
          <a:xfrm>
            <a:off x="1310205" y="2697480"/>
            <a:ext cx="871293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/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</a:t>
            </a:r>
            <a:endParaRPr lang="en-US" sz="730" dirty="0"/>
          </a:p>
        </p:txBody>
      </p:sp>
      <p:sp>
        <p:nvSpPr>
          <p:cNvPr id="37" name="Shape 34"/>
          <p:cNvSpPr/>
          <p:nvPr/>
        </p:nvSpPr>
        <p:spPr>
          <a:xfrm>
            <a:off x="2186069" y="2980944"/>
            <a:ext cx="164592" cy="9144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38" name="Shape 35"/>
          <p:cNvSpPr/>
          <p:nvPr/>
        </p:nvSpPr>
        <p:spPr>
          <a:xfrm>
            <a:off x="2254649" y="2697480"/>
            <a:ext cx="871293" cy="658368"/>
          </a:xfrm>
          <a:prstGeom prst="roundRect">
            <a:avLst>
              <a:gd name="adj" fmla="val 5556"/>
            </a:avLst>
          </a:prstGeom>
          <a:solidFill>
            <a:srgbClr val="1C7293"/>
          </a:solidFill>
          <a:ln/>
        </p:spPr>
      </p:sp>
      <p:sp>
        <p:nvSpPr>
          <p:cNvPr id="39" name="Text 36"/>
          <p:cNvSpPr/>
          <p:nvPr/>
        </p:nvSpPr>
        <p:spPr>
          <a:xfrm>
            <a:off x="2254649" y="2697480"/>
            <a:ext cx="871293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LFM · GEO ·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Gen.</a:t>
            </a:r>
            <a:endParaRPr lang="en-US" sz="730" dirty="0"/>
          </a:p>
        </p:txBody>
      </p:sp>
      <p:sp>
        <p:nvSpPr>
          <p:cNvPr id="40" name="Shape 37"/>
          <p:cNvSpPr/>
          <p:nvPr/>
        </p:nvSpPr>
        <p:spPr>
          <a:xfrm>
            <a:off x="3130514" y="2980944"/>
            <a:ext cx="164592" cy="9144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41" name="Shape 38"/>
          <p:cNvSpPr/>
          <p:nvPr/>
        </p:nvSpPr>
        <p:spPr>
          <a:xfrm>
            <a:off x="3199094" y="2697480"/>
            <a:ext cx="871293" cy="658368"/>
          </a:xfrm>
          <a:prstGeom prst="roundRect">
            <a:avLst>
              <a:gd name="adj" fmla="val 5556"/>
            </a:avLst>
          </a:prstGeom>
          <a:solidFill>
            <a:srgbClr val="21295C"/>
          </a:solidFill>
          <a:ln/>
        </p:spPr>
      </p:sp>
      <p:sp>
        <p:nvSpPr>
          <p:cNvPr id="42" name="Text 39"/>
          <p:cNvSpPr/>
          <p:nvPr/>
        </p:nvSpPr>
        <p:spPr>
          <a:xfrm>
            <a:off x="3199094" y="2697480"/>
            <a:ext cx="871293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(Hamming/Hann/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Blackman)</a:t>
            </a:r>
            <a:endParaRPr lang="en-US" sz="730" dirty="0"/>
          </a:p>
        </p:txBody>
      </p:sp>
      <p:sp>
        <p:nvSpPr>
          <p:cNvPr id="43" name="Shape 40"/>
          <p:cNvSpPr/>
          <p:nvPr/>
        </p:nvSpPr>
        <p:spPr>
          <a:xfrm>
            <a:off x="4074958" y="2980944"/>
            <a:ext cx="164592" cy="9144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44" name="Shape 41"/>
          <p:cNvSpPr/>
          <p:nvPr/>
        </p:nvSpPr>
        <p:spPr>
          <a:xfrm>
            <a:off x="4143538" y="2697480"/>
            <a:ext cx="871293" cy="658368"/>
          </a:xfrm>
          <a:prstGeom prst="roundRect">
            <a:avLst>
              <a:gd name="adj" fmla="val 5556"/>
            </a:avLst>
          </a:prstGeom>
          <a:solidFill>
            <a:srgbClr val="1C7293"/>
          </a:solidFill>
          <a:ln/>
        </p:spPr>
      </p:sp>
      <p:sp>
        <p:nvSpPr>
          <p:cNvPr id="45" name="Text 42"/>
          <p:cNvSpPr/>
          <p:nvPr/>
        </p:nvSpPr>
        <p:spPr>
          <a:xfrm>
            <a:off x="4143538" y="2697480"/>
            <a:ext cx="871293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 →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</a:t>
            </a:r>
            <a:endParaRPr lang="en-US" sz="730" dirty="0"/>
          </a:p>
        </p:txBody>
      </p:sp>
      <p:sp>
        <p:nvSpPr>
          <p:cNvPr id="46" name="Shape 43"/>
          <p:cNvSpPr/>
          <p:nvPr/>
        </p:nvSpPr>
        <p:spPr>
          <a:xfrm>
            <a:off x="5019403" y="2980944"/>
            <a:ext cx="164592" cy="9144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47" name="Shape 44"/>
          <p:cNvSpPr/>
          <p:nvPr/>
        </p:nvSpPr>
        <p:spPr>
          <a:xfrm>
            <a:off x="5087983" y="2697480"/>
            <a:ext cx="871293" cy="658368"/>
          </a:xfrm>
          <a:prstGeom prst="roundRect">
            <a:avLst>
              <a:gd name="adj" fmla="val 5556"/>
            </a:avLst>
          </a:prstGeom>
          <a:solidFill>
            <a:srgbClr val="21295C"/>
          </a:solidFill>
          <a:ln/>
        </p:spPr>
      </p:sp>
      <p:sp>
        <p:nvSpPr>
          <p:cNvPr id="48" name="Text 45"/>
          <p:cNvSpPr/>
          <p:nvPr/>
        </p:nvSpPr>
        <p:spPr>
          <a:xfrm>
            <a:off x="5087983" y="2697480"/>
            <a:ext cx="871293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+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</a:t>
            </a:r>
            <a:endParaRPr lang="en-US" sz="730" dirty="0"/>
          </a:p>
        </p:txBody>
      </p:sp>
      <p:sp>
        <p:nvSpPr>
          <p:cNvPr id="49" name="Shape 46"/>
          <p:cNvSpPr/>
          <p:nvPr/>
        </p:nvSpPr>
        <p:spPr>
          <a:xfrm>
            <a:off x="5963847" y="2980944"/>
            <a:ext cx="164592" cy="9144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50" name="Shape 47"/>
          <p:cNvSpPr/>
          <p:nvPr/>
        </p:nvSpPr>
        <p:spPr>
          <a:xfrm>
            <a:off x="6032427" y="2697480"/>
            <a:ext cx="871293" cy="658368"/>
          </a:xfrm>
          <a:prstGeom prst="roundRect">
            <a:avLst>
              <a:gd name="adj" fmla="val 5556"/>
            </a:avLst>
          </a:prstGeom>
          <a:solidFill>
            <a:srgbClr val="1C7293"/>
          </a:solidFill>
          <a:ln/>
        </p:spPr>
      </p:sp>
      <p:sp>
        <p:nvSpPr>
          <p:cNvPr id="51" name="Text 48"/>
          <p:cNvSpPr/>
          <p:nvPr/>
        </p:nvSpPr>
        <p:spPr>
          <a:xfrm>
            <a:off x="6032427" y="2697480"/>
            <a:ext cx="871293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Eval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Re-optimise</a:t>
            </a:r>
            <a:endParaRPr lang="en-US" sz="730" dirty="0"/>
          </a:p>
        </p:txBody>
      </p:sp>
      <p:sp>
        <p:nvSpPr>
          <p:cNvPr id="52" name="Shape 49"/>
          <p:cNvSpPr/>
          <p:nvPr/>
        </p:nvSpPr>
        <p:spPr>
          <a:xfrm>
            <a:off x="365760" y="3566160"/>
            <a:ext cx="6537960" cy="2743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3" name="Text 50"/>
          <p:cNvSpPr/>
          <p:nvPr/>
        </p:nvSpPr>
        <p:spPr>
          <a:xfrm>
            <a:off x="475488" y="356616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365760" y="3931920"/>
            <a:ext cx="1249070" cy="1051560"/>
          </a:xfrm>
          <a:prstGeom prst="roundRect">
            <a:avLst>
              <a:gd name="adj" fmla="val 4348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pic>
        <p:nvPicPr>
          <p:cNvPr id="55" name="Image 1" descr="/home/claude/build/assets/badges/hw_stm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" y="4041648"/>
            <a:ext cx="310896" cy="310896"/>
          </a:xfrm>
          <a:prstGeom prst="rect">
            <a:avLst/>
          </a:prstGeom>
        </p:spPr>
      </p:pic>
      <p:sp>
        <p:nvSpPr>
          <p:cNvPr id="56" name="Text 52"/>
          <p:cNvSpPr/>
          <p:nvPr/>
        </p:nvSpPr>
        <p:spPr>
          <a:xfrm>
            <a:off x="411480" y="4407408"/>
            <a:ext cx="11576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</a:t>
            </a:r>
            <a:endParaRPr lang="en-US" sz="900" dirty="0"/>
          </a:p>
        </p:txBody>
      </p:sp>
      <p:sp>
        <p:nvSpPr>
          <p:cNvPr id="57" name="Text 53"/>
          <p:cNvSpPr/>
          <p:nvPr/>
        </p:nvSpPr>
        <p:spPr>
          <a:xfrm>
            <a:off x="411480" y="4645152"/>
            <a:ext cx="11576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· C / C++</a:t>
            </a:r>
            <a:endParaRPr lang="en-US" sz="720" dirty="0"/>
          </a:p>
        </p:txBody>
      </p:sp>
      <p:sp>
        <p:nvSpPr>
          <p:cNvPr id="58" name="Shape 54"/>
          <p:cNvSpPr/>
          <p:nvPr/>
        </p:nvSpPr>
        <p:spPr>
          <a:xfrm>
            <a:off x="1687982" y="3931920"/>
            <a:ext cx="1249070" cy="1051560"/>
          </a:xfrm>
          <a:prstGeom prst="roundRect">
            <a:avLst>
              <a:gd name="adj" fmla="val 4348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pic>
        <p:nvPicPr>
          <p:cNvPr id="59" name="Image 2" descr="/home/claude/build/assets/badges/dash_ff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070" y="4041648"/>
            <a:ext cx="310896" cy="310896"/>
          </a:xfrm>
          <a:prstGeom prst="rect">
            <a:avLst/>
          </a:prstGeom>
        </p:spPr>
      </p:pic>
      <p:sp>
        <p:nvSpPr>
          <p:cNvPr id="60" name="Text 55"/>
          <p:cNvSpPr/>
          <p:nvPr/>
        </p:nvSpPr>
        <p:spPr>
          <a:xfrm>
            <a:off x="1733702" y="4407408"/>
            <a:ext cx="11576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900" dirty="0"/>
          </a:p>
        </p:txBody>
      </p:sp>
      <p:sp>
        <p:nvSpPr>
          <p:cNvPr id="61" name="Text 56"/>
          <p:cNvSpPr/>
          <p:nvPr/>
        </p:nvSpPr>
        <p:spPr>
          <a:xfrm>
            <a:off x="1733702" y="4645152"/>
            <a:ext cx="11576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React · CSS</a:t>
            </a:r>
            <a:endParaRPr lang="en-US" sz="720" dirty="0"/>
          </a:p>
        </p:txBody>
      </p:sp>
      <p:sp>
        <p:nvSpPr>
          <p:cNvPr id="62" name="Shape 57"/>
          <p:cNvSpPr/>
          <p:nvPr/>
        </p:nvSpPr>
        <p:spPr>
          <a:xfrm>
            <a:off x="3010205" y="3931920"/>
            <a:ext cx="1249070" cy="1051560"/>
          </a:xfrm>
          <a:prstGeom prst="roundRect">
            <a:avLst>
              <a:gd name="adj" fmla="val 4348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pic>
        <p:nvPicPr>
          <p:cNvPr id="63" name="Image 3" descr="/home/claude/build/assets/badges/hw_scop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9292" y="4041648"/>
            <a:ext cx="310896" cy="310896"/>
          </a:xfrm>
          <a:prstGeom prst="rect">
            <a:avLst/>
          </a:prstGeom>
        </p:spPr>
      </p:pic>
      <p:sp>
        <p:nvSpPr>
          <p:cNvPr id="64" name="Text 58"/>
          <p:cNvSpPr/>
          <p:nvPr/>
        </p:nvSpPr>
        <p:spPr>
          <a:xfrm>
            <a:off x="3055925" y="4407408"/>
            <a:ext cx="11576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Proc.</a:t>
            </a:r>
            <a:endParaRPr lang="en-US" sz="900" dirty="0"/>
          </a:p>
        </p:txBody>
      </p:sp>
      <p:sp>
        <p:nvSpPr>
          <p:cNvPr id="65" name="Text 59"/>
          <p:cNvSpPr/>
          <p:nvPr/>
        </p:nvSpPr>
        <p:spPr>
          <a:xfrm>
            <a:off x="3055925" y="4645152"/>
            <a:ext cx="11576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· Windowing · Synthesis</a:t>
            </a:r>
            <a:endParaRPr lang="en-US" sz="720" dirty="0"/>
          </a:p>
        </p:txBody>
      </p:sp>
      <p:sp>
        <p:nvSpPr>
          <p:cNvPr id="66" name="Shape 60"/>
          <p:cNvSpPr/>
          <p:nvPr/>
        </p:nvSpPr>
        <p:spPr>
          <a:xfrm>
            <a:off x="4332427" y="3931920"/>
            <a:ext cx="1249070" cy="1051560"/>
          </a:xfrm>
          <a:prstGeom prst="roundRect">
            <a:avLst>
              <a:gd name="adj" fmla="val 4348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pic>
        <p:nvPicPr>
          <p:cNvPr id="67" name="Image 4" descr="/home/claude/build/assets/badges/hw_ad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1514" y="4041648"/>
            <a:ext cx="310896" cy="310896"/>
          </a:xfrm>
          <a:prstGeom prst="rect">
            <a:avLst/>
          </a:prstGeom>
        </p:spPr>
      </p:pic>
      <p:sp>
        <p:nvSpPr>
          <p:cNvPr id="68" name="Text 61"/>
          <p:cNvSpPr/>
          <p:nvPr/>
        </p:nvSpPr>
        <p:spPr>
          <a:xfrm>
            <a:off x="4378147" y="4407408"/>
            <a:ext cx="11576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900" dirty="0"/>
          </a:p>
        </p:txBody>
      </p:sp>
      <p:sp>
        <p:nvSpPr>
          <p:cNvPr id="69" name="Text 62"/>
          <p:cNvSpPr/>
          <p:nvPr/>
        </p:nvSpPr>
        <p:spPr>
          <a:xfrm>
            <a:off x="4378147" y="4645152"/>
            <a:ext cx="11576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· DAC · Op-Amp · Filter</a:t>
            </a:r>
            <a:endParaRPr lang="en-US" sz="720" dirty="0"/>
          </a:p>
        </p:txBody>
      </p:sp>
      <p:sp>
        <p:nvSpPr>
          <p:cNvPr id="70" name="Shape 63"/>
          <p:cNvSpPr/>
          <p:nvPr/>
        </p:nvSpPr>
        <p:spPr>
          <a:xfrm>
            <a:off x="5654650" y="3931920"/>
            <a:ext cx="1249070" cy="1051560"/>
          </a:xfrm>
          <a:prstGeom prst="roundRect">
            <a:avLst>
              <a:gd name="adj" fmla="val 4348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pic>
        <p:nvPicPr>
          <p:cNvPr id="71" name="Image 5" descr="/home/claude/build/assets/badges/dash_spectrogra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3737" y="4041648"/>
            <a:ext cx="310896" cy="310896"/>
          </a:xfrm>
          <a:prstGeom prst="rect">
            <a:avLst/>
          </a:prstGeom>
        </p:spPr>
      </p:pic>
      <p:sp>
        <p:nvSpPr>
          <p:cNvPr id="72" name="Text 64"/>
          <p:cNvSpPr/>
          <p:nvPr/>
        </p:nvSpPr>
        <p:spPr>
          <a:xfrm>
            <a:off x="5700370" y="4407408"/>
            <a:ext cx="11576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900" dirty="0"/>
          </a:p>
        </p:txBody>
      </p:sp>
      <p:sp>
        <p:nvSpPr>
          <p:cNvPr id="73" name="Text 65"/>
          <p:cNvSpPr/>
          <p:nvPr/>
        </p:nvSpPr>
        <p:spPr>
          <a:xfrm>
            <a:off x="5700370" y="4645152"/>
            <a:ext cx="11576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· FFT · Telemetry</a:t>
            </a:r>
            <a:endParaRPr lang="en-US" sz="720" dirty="0"/>
          </a:p>
        </p:txBody>
      </p:sp>
      <p:sp>
        <p:nvSpPr>
          <p:cNvPr id="74" name="Text 66"/>
          <p:cNvSpPr/>
          <p:nvPr/>
        </p:nvSpPr>
        <p:spPr>
          <a:xfrm>
            <a:off x="365760" y="5093208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build path:  sine → LFM chirp → timer/DMA streaming → potentiometer-driven adaptation → full parameter set → windowing + FFT validation → analog front end + enclosure.</a:t>
            </a:r>
            <a:endParaRPr lang="en-US" sz="850" dirty="0"/>
          </a:p>
        </p:txBody>
      </p:sp>
      <p:sp>
        <p:nvSpPr>
          <p:cNvPr id="75" name="Shape 67"/>
          <p:cNvSpPr/>
          <p:nvPr/>
        </p:nvSpPr>
        <p:spPr>
          <a:xfrm>
            <a:off x="7178040" y="960120"/>
            <a:ext cx="4647895" cy="274320"/>
          </a:xfrm>
          <a:prstGeom prst="rect">
            <a:avLst/>
          </a:prstGeom>
          <a:solidFill>
            <a:srgbClr val="2E7D45"/>
          </a:solidFill>
          <a:ln/>
        </p:spPr>
      </p:sp>
      <p:sp>
        <p:nvSpPr>
          <p:cNvPr id="76" name="Text 68"/>
          <p:cNvSpPr/>
          <p:nvPr/>
        </p:nvSpPr>
        <p:spPr>
          <a:xfrm>
            <a:off x="7287768" y="960120"/>
            <a:ext cx="4465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 · FIRMWARE FINITE STATE MACHINE (FSM)</a:t>
            </a:r>
            <a:endParaRPr lang="en-US" sz="1100" dirty="0"/>
          </a:p>
        </p:txBody>
      </p:sp>
      <p:sp>
        <p:nvSpPr>
          <p:cNvPr id="77" name="Shape 69"/>
          <p:cNvSpPr/>
          <p:nvPr/>
        </p:nvSpPr>
        <p:spPr>
          <a:xfrm>
            <a:off x="7178040" y="1307592"/>
            <a:ext cx="4647895" cy="288036"/>
          </a:xfrm>
          <a:prstGeom prst="roundRect">
            <a:avLst>
              <a:gd name="adj" fmla="val 12698"/>
            </a:avLst>
          </a:prstGeom>
          <a:solidFill>
            <a:srgbClr val="2E7D45"/>
          </a:solidFill>
          <a:ln/>
        </p:spPr>
      </p:sp>
      <p:sp>
        <p:nvSpPr>
          <p:cNvPr id="78" name="Text 70"/>
          <p:cNvSpPr/>
          <p:nvPr/>
        </p:nvSpPr>
        <p:spPr>
          <a:xfrm>
            <a:off x="7178040" y="1307592"/>
            <a:ext cx="4647895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</a:t>
            </a:r>
            <a:endParaRPr lang="en-US" sz="950" dirty="0"/>
          </a:p>
        </p:txBody>
      </p:sp>
      <p:sp>
        <p:nvSpPr>
          <p:cNvPr id="79" name="Shape 71"/>
          <p:cNvSpPr/>
          <p:nvPr/>
        </p:nvSpPr>
        <p:spPr>
          <a:xfrm>
            <a:off x="7178040" y="1636776"/>
            <a:ext cx="4647895" cy="288036"/>
          </a:xfrm>
          <a:prstGeom prst="roundRect">
            <a:avLst>
              <a:gd name="adj" fmla="val 12698"/>
            </a:avLst>
          </a:prstGeom>
          <a:solidFill>
            <a:srgbClr val="2E7D45"/>
          </a:solidFill>
          <a:ln/>
        </p:spPr>
      </p:sp>
      <p:sp>
        <p:nvSpPr>
          <p:cNvPr id="80" name="Text 72"/>
          <p:cNvSpPr/>
          <p:nvPr/>
        </p:nvSpPr>
        <p:spPr>
          <a:xfrm>
            <a:off x="7178040" y="1636776"/>
            <a:ext cx="4647895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TEST</a:t>
            </a:r>
            <a:endParaRPr lang="en-US" sz="950" dirty="0"/>
          </a:p>
        </p:txBody>
      </p:sp>
      <p:sp>
        <p:nvSpPr>
          <p:cNvPr id="81" name="Shape 73"/>
          <p:cNvSpPr/>
          <p:nvPr/>
        </p:nvSpPr>
        <p:spPr>
          <a:xfrm>
            <a:off x="7178040" y="1965960"/>
            <a:ext cx="4647895" cy="288036"/>
          </a:xfrm>
          <a:prstGeom prst="roundRect">
            <a:avLst>
              <a:gd name="adj" fmla="val 12698"/>
            </a:avLst>
          </a:prstGeom>
          <a:solidFill>
            <a:srgbClr val="2E7D45"/>
          </a:solidFill>
          <a:ln/>
        </p:spPr>
      </p:sp>
      <p:sp>
        <p:nvSpPr>
          <p:cNvPr id="82" name="Text 74"/>
          <p:cNvSpPr/>
          <p:nvPr/>
        </p:nvSpPr>
        <p:spPr>
          <a:xfrm>
            <a:off x="7178040" y="1965960"/>
            <a:ext cx="4647895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950" dirty="0"/>
          </a:p>
        </p:txBody>
      </p:sp>
      <p:sp>
        <p:nvSpPr>
          <p:cNvPr id="83" name="Shape 75"/>
          <p:cNvSpPr/>
          <p:nvPr/>
        </p:nvSpPr>
        <p:spPr>
          <a:xfrm>
            <a:off x="7178040" y="2295144"/>
            <a:ext cx="4647895" cy="288036"/>
          </a:xfrm>
          <a:prstGeom prst="roundRect">
            <a:avLst>
              <a:gd name="adj" fmla="val 12698"/>
            </a:avLst>
          </a:prstGeom>
          <a:solidFill>
            <a:srgbClr val="2E7D45"/>
          </a:solidFill>
          <a:ln/>
        </p:spPr>
      </p:sp>
      <p:sp>
        <p:nvSpPr>
          <p:cNvPr id="84" name="Text 76"/>
          <p:cNvSpPr/>
          <p:nvPr/>
        </p:nvSpPr>
        <p:spPr>
          <a:xfrm>
            <a:off x="7178040" y="2295144"/>
            <a:ext cx="4647895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ENVIRONMENT</a:t>
            </a:r>
            <a:endParaRPr lang="en-US" sz="950" dirty="0"/>
          </a:p>
        </p:txBody>
      </p:sp>
      <p:sp>
        <p:nvSpPr>
          <p:cNvPr id="85" name="Shape 77"/>
          <p:cNvSpPr/>
          <p:nvPr/>
        </p:nvSpPr>
        <p:spPr>
          <a:xfrm>
            <a:off x="7178040" y="2624328"/>
            <a:ext cx="4647895" cy="288036"/>
          </a:xfrm>
          <a:prstGeom prst="roundRect">
            <a:avLst>
              <a:gd name="adj" fmla="val 12698"/>
            </a:avLst>
          </a:prstGeom>
          <a:solidFill>
            <a:srgbClr val="2E7D45"/>
          </a:solidFill>
          <a:ln/>
        </p:spPr>
      </p:sp>
      <p:sp>
        <p:nvSpPr>
          <p:cNvPr id="86" name="Text 78"/>
          <p:cNvSpPr/>
          <p:nvPr/>
        </p:nvSpPr>
        <p:spPr>
          <a:xfrm>
            <a:off x="7178040" y="2624328"/>
            <a:ext cx="4647895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&amp; OPTIMISE</a:t>
            </a:r>
            <a:endParaRPr lang="en-US" sz="950" dirty="0"/>
          </a:p>
        </p:txBody>
      </p:sp>
      <p:sp>
        <p:nvSpPr>
          <p:cNvPr id="87" name="Shape 79"/>
          <p:cNvSpPr/>
          <p:nvPr/>
        </p:nvSpPr>
        <p:spPr>
          <a:xfrm>
            <a:off x="7178040" y="2953512"/>
            <a:ext cx="4647895" cy="288036"/>
          </a:xfrm>
          <a:prstGeom prst="roundRect">
            <a:avLst>
              <a:gd name="adj" fmla="val 12698"/>
            </a:avLst>
          </a:prstGeom>
          <a:solidFill>
            <a:srgbClr val="D9731A"/>
          </a:solidFill>
          <a:ln/>
        </p:spPr>
      </p:sp>
      <p:sp>
        <p:nvSpPr>
          <p:cNvPr id="88" name="Text 80"/>
          <p:cNvSpPr/>
          <p:nvPr/>
        </p:nvSpPr>
        <p:spPr>
          <a:xfrm>
            <a:off x="7178040" y="2953512"/>
            <a:ext cx="4647895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CHECK</a:t>
            </a:r>
            <a:endParaRPr lang="en-US" sz="950" dirty="0"/>
          </a:p>
        </p:txBody>
      </p:sp>
      <p:sp>
        <p:nvSpPr>
          <p:cNvPr id="89" name="Shape 81"/>
          <p:cNvSpPr/>
          <p:nvPr/>
        </p:nvSpPr>
        <p:spPr>
          <a:xfrm>
            <a:off x="7178040" y="3282696"/>
            <a:ext cx="4647895" cy="237744"/>
          </a:xfrm>
          <a:prstGeom prst="roundRect">
            <a:avLst>
              <a:gd name="adj" fmla="val 15385"/>
            </a:avLst>
          </a:prstGeom>
          <a:solidFill>
            <a:srgbClr val="B23A2E"/>
          </a:solidFill>
          <a:ln/>
        </p:spPr>
      </p:sp>
      <p:sp>
        <p:nvSpPr>
          <p:cNvPr id="90" name="Text 82"/>
          <p:cNvSpPr/>
          <p:nvPr/>
        </p:nvSpPr>
        <p:spPr>
          <a:xfrm>
            <a:off x="7178040" y="3282696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FAULT DETECTED → STOP OUTPUT</a:t>
            </a:r>
            <a:endParaRPr lang="en-US" sz="800" dirty="0"/>
          </a:p>
        </p:txBody>
      </p:sp>
      <p:sp>
        <p:nvSpPr>
          <p:cNvPr id="91" name="Shape 83"/>
          <p:cNvSpPr/>
          <p:nvPr/>
        </p:nvSpPr>
        <p:spPr>
          <a:xfrm>
            <a:off x="7178040" y="3561588"/>
            <a:ext cx="4647895" cy="288036"/>
          </a:xfrm>
          <a:prstGeom prst="roundRect">
            <a:avLst>
              <a:gd name="adj" fmla="val 12698"/>
            </a:avLst>
          </a:prstGeom>
          <a:solidFill>
            <a:srgbClr val="2E7D45"/>
          </a:solidFill>
          <a:ln/>
        </p:spPr>
      </p:sp>
      <p:sp>
        <p:nvSpPr>
          <p:cNvPr id="92" name="Text 84"/>
          <p:cNvSpPr/>
          <p:nvPr/>
        </p:nvSpPr>
        <p:spPr>
          <a:xfrm>
            <a:off x="7178040" y="3561588"/>
            <a:ext cx="4647895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WAVEFORM</a:t>
            </a:r>
            <a:endParaRPr lang="en-US" sz="950" dirty="0"/>
          </a:p>
        </p:txBody>
      </p:sp>
      <p:sp>
        <p:nvSpPr>
          <p:cNvPr id="93" name="Shape 85"/>
          <p:cNvSpPr/>
          <p:nvPr/>
        </p:nvSpPr>
        <p:spPr>
          <a:xfrm>
            <a:off x="7178040" y="3890772"/>
            <a:ext cx="4647895" cy="288036"/>
          </a:xfrm>
          <a:prstGeom prst="roundRect">
            <a:avLst>
              <a:gd name="adj" fmla="val 12698"/>
            </a:avLst>
          </a:prstGeom>
          <a:solidFill>
            <a:srgbClr val="2E7D45"/>
          </a:solidFill>
          <a:ln/>
        </p:spPr>
      </p:sp>
      <p:sp>
        <p:nvSpPr>
          <p:cNvPr id="94" name="Text 86"/>
          <p:cNvSpPr/>
          <p:nvPr/>
        </p:nvSpPr>
        <p:spPr>
          <a:xfrm>
            <a:off x="7178040" y="3890772"/>
            <a:ext cx="4647895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WINDOW</a:t>
            </a:r>
            <a:endParaRPr lang="en-US" sz="950" dirty="0"/>
          </a:p>
        </p:txBody>
      </p:sp>
      <p:sp>
        <p:nvSpPr>
          <p:cNvPr id="95" name="Shape 87"/>
          <p:cNvSpPr/>
          <p:nvPr/>
        </p:nvSpPr>
        <p:spPr>
          <a:xfrm>
            <a:off x="7178040" y="4219956"/>
            <a:ext cx="4647895" cy="288036"/>
          </a:xfrm>
          <a:prstGeom prst="roundRect">
            <a:avLst>
              <a:gd name="adj" fmla="val 12698"/>
            </a:avLst>
          </a:prstGeom>
          <a:solidFill>
            <a:srgbClr val="2E7D45"/>
          </a:solidFill>
          <a:ln/>
        </p:spPr>
      </p:sp>
      <p:sp>
        <p:nvSpPr>
          <p:cNvPr id="96" name="Text 88"/>
          <p:cNvSpPr/>
          <p:nvPr/>
        </p:nvSpPr>
        <p:spPr>
          <a:xfrm>
            <a:off x="7178040" y="4219956"/>
            <a:ext cx="4647895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 + TIMER START</a:t>
            </a:r>
            <a:endParaRPr lang="en-US" sz="950" dirty="0"/>
          </a:p>
        </p:txBody>
      </p:sp>
      <p:sp>
        <p:nvSpPr>
          <p:cNvPr id="97" name="Shape 89"/>
          <p:cNvSpPr/>
          <p:nvPr/>
        </p:nvSpPr>
        <p:spPr>
          <a:xfrm>
            <a:off x="7178040" y="4549140"/>
            <a:ext cx="4647895" cy="288036"/>
          </a:xfrm>
          <a:prstGeom prst="roundRect">
            <a:avLst>
              <a:gd name="adj" fmla="val 12698"/>
            </a:avLst>
          </a:prstGeom>
          <a:solidFill>
            <a:srgbClr val="2E7D45"/>
          </a:solidFill>
          <a:ln/>
        </p:spPr>
      </p:sp>
      <p:sp>
        <p:nvSpPr>
          <p:cNvPr id="98" name="Text 90"/>
          <p:cNvSpPr/>
          <p:nvPr/>
        </p:nvSpPr>
        <p:spPr>
          <a:xfrm>
            <a:off x="7178040" y="4549140"/>
            <a:ext cx="4647895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 PULSE</a:t>
            </a:r>
            <a:endParaRPr lang="en-US" sz="950" dirty="0"/>
          </a:p>
        </p:txBody>
      </p:sp>
      <p:sp>
        <p:nvSpPr>
          <p:cNvPr id="99" name="Shape 91"/>
          <p:cNvSpPr/>
          <p:nvPr/>
        </p:nvSpPr>
        <p:spPr>
          <a:xfrm>
            <a:off x="7178040" y="4878324"/>
            <a:ext cx="4647895" cy="288036"/>
          </a:xfrm>
          <a:prstGeom prst="roundRect">
            <a:avLst>
              <a:gd name="adj" fmla="val 12698"/>
            </a:avLst>
          </a:prstGeom>
          <a:solidFill>
            <a:srgbClr val="2E7D45"/>
          </a:solidFill>
          <a:ln/>
        </p:spPr>
      </p:sp>
      <p:sp>
        <p:nvSpPr>
          <p:cNvPr id="100" name="Text 92"/>
          <p:cNvSpPr/>
          <p:nvPr/>
        </p:nvSpPr>
        <p:spPr>
          <a:xfrm>
            <a:off x="7178040" y="4878324"/>
            <a:ext cx="4647895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&amp; EVALUATE</a:t>
            </a:r>
            <a:endParaRPr lang="en-US" sz="950" dirty="0"/>
          </a:p>
        </p:txBody>
      </p:sp>
      <p:sp>
        <p:nvSpPr>
          <p:cNvPr id="101" name="Shape 93"/>
          <p:cNvSpPr/>
          <p:nvPr/>
        </p:nvSpPr>
        <p:spPr>
          <a:xfrm>
            <a:off x="8313268" y="5234940"/>
            <a:ext cx="2377440" cy="502920"/>
          </a:xfrm>
          <a:prstGeom prst="diamond">
            <a:avLst/>
          </a:prstGeom>
          <a:solidFill>
            <a:srgbClr val="21295C"/>
          </a:solidFill>
          <a:ln/>
        </p:spPr>
      </p:sp>
      <p:sp>
        <p:nvSpPr>
          <p:cNvPr id="102" name="Text 94"/>
          <p:cNvSpPr/>
          <p:nvPr/>
        </p:nvSpPr>
        <p:spPr>
          <a:xfrm>
            <a:off x="8313268" y="52349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OK?</a:t>
            </a:r>
            <a:endParaRPr lang="en-US" sz="950" dirty="0"/>
          </a:p>
        </p:txBody>
      </p:sp>
      <p:sp>
        <p:nvSpPr>
          <p:cNvPr id="103" name="Shape 95"/>
          <p:cNvSpPr/>
          <p:nvPr/>
        </p:nvSpPr>
        <p:spPr>
          <a:xfrm>
            <a:off x="7178040" y="5820156"/>
            <a:ext cx="2255368" cy="310896"/>
          </a:xfrm>
          <a:prstGeom prst="roundRect">
            <a:avLst>
              <a:gd name="adj" fmla="val 14706"/>
            </a:avLst>
          </a:prstGeom>
          <a:solidFill>
            <a:srgbClr val="2E7D45"/>
          </a:solidFill>
          <a:ln/>
        </p:spPr>
      </p:sp>
      <p:sp>
        <p:nvSpPr>
          <p:cNvPr id="104" name="Text 96"/>
          <p:cNvSpPr/>
          <p:nvPr/>
        </p:nvSpPr>
        <p:spPr>
          <a:xfrm>
            <a:off x="7178040" y="5820156"/>
            <a:ext cx="2255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NEXT PULSE</a:t>
            </a:r>
            <a:endParaRPr lang="en-US" sz="850" dirty="0"/>
          </a:p>
        </p:txBody>
      </p:sp>
      <p:sp>
        <p:nvSpPr>
          <p:cNvPr id="105" name="Shape 97"/>
          <p:cNvSpPr/>
          <p:nvPr/>
        </p:nvSpPr>
        <p:spPr>
          <a:xfrm>
            <a:off x="9570568" y="5820156"/>
            <a:ext cx="2255368" cy="310896"/>
          </a:xfrm>
          <a:prstGeom prst="roundRect">
            <a:avLst>
              <a:gd name="adj" fmla="val 14706"/>
            </a:avLst>
          </a:prstGeom>
          <a:solidFill>
            <a:srgbClr val="1C7293"/>
          </a:solidFill>
          <a:ln/>
        </p:spPr>
      </p:sp>
      <p:sp>
        <p:nvSpPr>
          <p:cNvPr id="106" name="Text 98"/>
          <p:cNvSpPr/>
          <p:nvPr/>
        </p:nvSpPr>
        <p:spPr>
          <a:xfrm>
            <a:off x="9570568" y="5820156"/>
            <a:ext cx="2255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RE-OPTIMISE</a:t>
            </a:r>
            <a:endParaRPr lang="en-US" sz="850" dirty="0"/>
          </a:p>
        </p:txBody>
      </p:sp>
      <p:sp>
        <p:nvSpPr>
          <p:cNvPr id="107" name="Text 99"/>
          <p:cNvSpPr/>
          <p:nvPr/>
        </p:nvSpPr>
        <p:spPr>
          <a:xfrm>
            <a:off x="7178040" y="6222492"/>
            <a:ext cx="4647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returns to READ ENVIRONMENT for the next sensing cycle. This lifecycle governs every transmitted pulse.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1417320" cy="7772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8064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Name</a:t>
            </a:r>
            <a:endParaRPr lang="en-US" sz="1100" dirty="0"/>
          </a:p>
        </p:txBody>
      </p:sp>
      <p:pic>
        <p:nvPicPr>
          <p:cNvPr id="4" name="Image 0" descr="/home/claude/build/assets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201168"/>
            <a:ext cx="1417320" cy="7223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64592"/>
            <a:ext cx="8534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65760" y="960120"/>
            <a:ext cx="2714168" cy="3520440"/>
          </a:xfrm>
          <a:prstGeom prst="roundRect">
            <a:avLst>
              <a:gd name="adj" fmla="val 2021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960120"/>
            <a:ext cx="2714168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</p:sp>
      <p:sp>
        <p:nvSpPr>
          <p:cNvPr id="9" name="Shape 6"/>
          <p:cNvSpPr/>
          <p:nvPr/>
        </p:nvSpPr>
        <p:spPr>
          <a:xfrm>
            <a:off x="365760" y="1234440"/>
            <a:ext cx="2714168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" y="960120"/>
            <a:ext cx="2494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150" dirty="0"/>
          </a:p>
        </p:txBody>
      </p:sp>
      <p:pic>
        <p:nvPicPr>
          <p:cNvPr id="11" name="Image 1" descr="/home/claude/build/assets/badges/feas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82422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8096" y="1673352"/>
            <a:ext cx="2202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STM32-class controllers support real-time control</a:t>
            </a:r>
            <a:endParaRPr lang="en-US" sz="900" dirty="0"/>
          </a:p>
        </p:txBody>
      </p:sp>
      <p:pic>
        <p:nvPicPr>
          <p:cNvPr id="13" name="Image 2" descr="/home/claude/build/assets/badges/feas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363724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212848"/>
            <a:ext cx="2202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acquires environmental inputs directly</a:t>
            </a:r>
            <a:endParaRPr lang="en-US" sz="900" dirty="0"/>
          </a:p>
        </p:txBody>
      </p:sp>
      <p:pic>
        <p:nvPicPr>
          <p:cNvPr id="15" name="Image 3" descr="/home/claude/build/assets/badges/feas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903220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68096" y="2752344"/>
            <a:ext cx="2202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 cuts CPU load during waveform streaming</a:t>
            </a:r>
            <a:endParaRPr lang="en-US" sz="900" dirty="0"/>
          </a:p>
        </p:txBody>
      </p:sp>
      <p:pic>
        <p:nvPicPr>
          <p:cNvPr id="17" name="Image 4" descr="/home/claude/build/assets/badges/feas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442716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68096" y="3291840"/>
            <a:ext cx="2202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timers give deterministic sample timing</a:t>
            </a:r>
            <a:endParaRPr lang="en-US" sz="900" dirty="0"/>
          </a:p>
        </p:txBody>
      </p:sp>
      <p:pic>
        <p:nvPicPr>
          <p:cNvPr id="19" name="Image 5" descr="/home/claude/build/assets/badges/feas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3982212"/>
            <a:ext cx="237744" cy="23774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68096" y="3831336"/>
            <a:ext cx="2202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+ analog filtering enable a clean output</a:t>
            </a:r>
            <a:endParaRPr lang="en-US" sz="900" dirty="0"/>
          </a:p>
        </p:txBody>
      </p:sp>
      <p:sp>
        <p:nvSpPr>
          <p:cNvPr id="21" name="Shape 13"/>
          <p:cNvSpPr/>
          <p:nvPr/>
        </p:nvSpPr>
        <p:spPr>
          <a:xfrm>
            <a:off x="3281096" y="960120"/>
            <a:ext cx="2714168" cy="3520440"/>
          </a:xfrm>
          <a:prstGeom prst="roundRect">
            <a:avLst>
              <a:gd name="adj" fmla="val 2021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3281096" y="960120"/>
            <a:ext cx="2714168" cy="566928"/>
          </a:xfrm>
          <a:prstGeom prst="roundRect">
            <a:avLst>
              <a:gd name="adj" fmla="val 9677"/>
            </a:avLst>
          </a:prstGeom>
          <a:solidFill>
            <a:srgbClr val="B23A2E"/>
          </a:solidFill>
          <a:ln/>
        </p:spPr>
      </p:sp>
      <p:sp>
        <p:nvSpPr>
          <p:cNvPr id="23" name="Shape 15"/>
          <p:cNvSpPr/>
          <p:nvPr/>
        </p:nvSpPr>
        <p:spPr>
          <a:xfrm>
            <a:off x="3281096" y="1234440"/>
            <a:ext cx="2714168" cy="292608"/>
          </a:xfrm>
          <a:prstGeom prst="rect">
            <a:avLst/>
          </a:prstGeom>
          <a:solidFill>
            <a:srgbClr val="B23A2E"/>
          </a:solidFill>
          <a:ln/>
        </p:spPr>
      </p:sp>
      <p:sp>
        <p:nvSpPr>
          <p:cNvPr id="24" name="Text 16"/>
          <p:cNvSpPr/>
          <p:nvPr/>
        </p:nvSpPr>
        <p:spPr>
          <a:xfrm>
            <a:off x="3390824" y="960120"/>
            <a:ext cx="2494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/ RISKS</a:t>
            </a:r>
            <a:endParaRPr lang="en-US" sz="1150" dirty="0"/>
          </a:p>
        </p:txBody>
      </p:sp>
      <p:pic>
        <p:nvPicPr>
          <p:cNvPr id="25" name="Image 6" descr="/home/claude/build/assets/badges/risk_war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0824" y="1824228"/>
            <a:ext cx="237744" cy="23774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683432" y="1673352"/>
            <a:ext cx="2202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High-rate waveform generation load</a:t>
            </a:r>
            <a:endParaRPr lang="en-US" sz="900" dirty="0"/>
          </a:p>
        </p:txBody>
      </p:sp>
      <p:pic>
        <p:nvPicPr>
          <p:cNvPr id="27" name="Image 7" descr="/home/claude/build/assets/badges/risk_war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90824" y="2363724"/>
            <a:ext cx="237744" cy="237744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683432" y="2212848"/>
            <a:ext cx="2202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/ sample-rate limitations</a:t>
            </a:r>
            <a:endParaRPr lang="en-US" sz="900" dirty="0"/>
          </a:p>
        </p:txBody>
      </p:sp>
      <p:pic>
        <p:nvPicPr>
          <p:cNvPr id="29" name="Image 8" descr="/home/claude/build/assets/badges/risk_war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0824" y="2903220"/>
            <a:ext cx="237744" cy="237744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3683432" y="2752344"/>
            <a:ext cx="2202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signal distortion</a:t>
            </a:r>
            <a:endParaRPr lang="en-US" sz="900" dirty="0"/>
          </a:p>
        </p:txBody>
      </p:sp>
      <p:pic>
        <p:nvPicPr>
          <p:cNvPr id="31" name="Image 9" descr="/home/claude/build/assets/badges/risk_war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90824" y="3442716"/>
            <a:ext cx="237744" cy="237744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3683432" y="3291840"/>
            <a:ext cx="2202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model uncertainty</a:t>
            </a:r>
            <a:endParaRPr lang="en-US" sz="900" dirty="0"/>
          </a:p>
        </p:txBody>
      </p:sp>
      <p:pic>
        <p:nvPicPr>
          <p:cNvPr id="33" name="Image 10" descr="/home/claude/build/assets/badges/risk_war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90824" y="3982212"/>
            <a:ext cx="237744" cy="237744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3683432" y="3831336"/>
            <a:ext cx="2202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constraints &amp; sensor inaccuracy</a:t>
            </a:r>
            <a:endParaRPr lang="en-US" sz="900" dirty="0"/>
          </a:p>
        </p:txBody>
      </p:sp>
      <p:sp>
        <p:nvSpPr>
          <p:cNvPr id="35" name="Shape 22"/>
          <p:cNvSpPr/>
          <p:nvPr/>
        </p:nvSpPr>
        <p:spPr>
          <a:xfrm>
            <a:off x="6196432" y="960120"/>
            <a:ext cx="2714168" cy="3520440"/>
          </a:xfrm>
          <a:prstGeom prst="roundRect">
            <a:avLst>
              <a:gd name="adj" fmla="val 2021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sp>
        <p:nvSpPr>
          <p:cNvPr id="36" name="Shape 23"/>
          <p:cNvSpPr/>
          <p:nvPr/>
        </p:nvSpPr>
        <p:spPr>
          <a:xfrm>
            <a:off x="6196432" y="960120"/>
            <a:ext cx="2714168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37" name="Shape 24"/>
          <p:cNvSpPr/>
          <p:nvPr/>
        </p:nvSpPr>
        <p:spPr>
          <a:xfrm>
            <a:off x="6196432" y="1234440"/>
            <a:ext cx="2714168" cy="292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8" name="Text 25"/>
          <p:cNvSpPr/>
          <p:nvPr/>
        </p:nvSpPr>
        <p:spPr>
          <a:xfrm>
            <a:off x="6306160" y="960120"/>
            <a:ext cx="2494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150" dirty="0"/>
          </a:p>
        </p:txBody>
      </p:sp>
      <p:pic>
        <p:nvPicPr>
          <p:cNvPr id="39" name="Image 11" descr="/home/claude/build/assets/badges/mitig_shiel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6160" y="1824228"/>
            <a:ext cx="237744" cy="237744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6598768" y="1673352"/>
            <a:ext cx="2202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Precomputed LUT waveform samples</a:t>
            </a:r>
            <a:endParaRPr lang="en-US" sz="900" dirty="0"/>
          </a:p>
        </p:txBody>
      </p:sp>
      <p:pic>
        <p:nvPicPr>
          <p:cNvPr id="41" name="Image 12" descr="/home/claude/build/assets/badges/mitig_shiel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06160" y="2363724"/>
            <a:ext cx="237744" cy="237744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6598768" y="2212848"/>
            <a:ext cx="2202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 + timer-driven output path</a:t>
            </a:r>
            <a:endParaRPr lang="en-US" sz="900" dirty="0"/>
          </a:p>
        </p:txBody>
      </p:sp>
      <p:pic>
        <p:nvPicPr>
          <p:cNvPr id="43" name="Image 13" descr="/home/claude/build/assets/badges/mitig_shiel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06160" y="2903220"/>
            <a:ext cx="237744" cy="237744"/>
          </a:xfrm>
          <a:prstGeom prst="rect">
            <a:avLst/>
          </a:prstGeom>
        </p:spPr>
      </p:pic>
      <p:sp>
        <p:nvSpPr>
          <p:cNvPr id="44" name="Text 28"/>
          <p:cNvSpPr/>
          <p:nvPr/>
        </p:nvSpPr>
        <p:spPr>
          <a:xfrm>
            <a:off x="6598768" y="2752344"/>
            <a:ext cx="2202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Windowing to cut spectral leakage</a:t>
            </a:r>
            <a:endParaRPr lang="en-US" sz="900" dirty="0"/>
          </a:p>
        </p:txBody>
      </p:sp>
      <p:pic>
        <p:nvPicPr>
          <p:cNvPr id="45" name="Image 14" descr="/home/claude/build/assets/badges/mitig_shiel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06160" y="3442716"/>
            <a:ext cx="237744" cy="237744"/>
          </a:xfrm>
          <a:prstGeom prst="rect">
            <a:avLst/>
          </a:prstGeom>
        </p:spPr>
      </p:pic>
      <p:sp>
        <p:nvSpPr>
          <p:cNvPr id="46" name="Text 29"/>
          <p:cNvSpPr/>
          <p:nvPr/>
        </p:nvSpPr>
        <p:spPr>
          <a:xfrm>
            <a:off x="6598768" y="3291840"/>
            <a:ext cx="2202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safety limits + fault detection</a:t>
            </a:r>
            <a:endParaRPr lang="en-US" sz="900" dirty="0"/>
          </a:p>
        </p:txBody>
      </p:sp>
      <p:pic>
        <p:nvPicPr>
          <p:cNvPr id="47" name="Image 15" descr="/home/claude/build/assets/badges/mitig_shiel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06160" y="3982212"/>
            <a:ext cx="237744" cy="237744"/>
          </a:xfrm>
          <a:prstGeom prst="rect">
            <a:avLst/>
          </a:prstGeom>
        </p:spPr>
      </p:pic>
      <p:sp>
        <p:nvSpPr>
          <p:cNvPr id="48" name="Text 30"/>
          <p:cNvSpPr/>
          <p:nvPr/>
        </p:nvSpPr>
        <p:spPr>
          <a:xfrm>
            <a:off x="6598768" y="3831336"/>
            <a:ext cx="2202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before hardware deployment</a:t>
            </a:r>
            <a:endParaRPr lang="en-US" sz="900" dirty="0"/>
          </a:p>
        </p:txBody>
      </p:sp>
      <p:sp>
        <p:nvSpPr>
          <p:cNvPr id="49" name="Shape 31"/>
          <p:cNvSpPr/>
          <p:nvPr/>
        </p:nvSpPr>
        <p:spPr>
          <a:xfrm>
            <a:off x="9111767" y="960120"/>
            <a:ext cx="2714168" cy="3520440"/>
          </a:xfrm>
          <a:prstGeom prst="roundRect">
            <a:avLst>
              <a:gd name="adj" fmla="val 2021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sp>
        <p:nvSpPr>
          <p:cNvPr id="50" name="Shape 32"/>
          <p:cNvSpPr/>
          <p:nvPr/>
        </p:nvSpPr>
        <p:spPr>
          <a:xfrm>
            <a:off x="9111767" y="960120"/>
            <a:ext cx="2714168" cy="566928"/>
          </a:xfrm>
          <a:prstGeom prst="roundRect">
            <a:avLst>
              <a:gd name="adj" fmla="val 9677"/>
            </a:avLst>
          </a:prstGeom>
          <a:solidFill>
            <a:srgbClr val="2E7D45"/>
          </a:solidFill>
          <a:ln/>
        </p:spPr>
      </p:sp>
      <p:sp>
        <p:nvSpPr>
          <p:cNvPr id="51" name="Shape 33"/>
          <p:cNvSpPr/>
          <p:nvPr/>
        </p:nvSpPr>
        <p:spPr>
          <a:xfrm>
            <a:off x="9111767" y="1234440"/>
            <a:ext cx="2714168" cy="292608"/>
          </a:xfrm>
          <a:prstGeom prst="rect">
            <a:avLst/>
          </a:prstGeom>
          <a:solidFill>
            <a:srgbClr val="2E7D45"/>
          </a:solidFill>
          <a:ln/>
        </p:spPr>
      </p:sp>
      <p:sp>
        <p:nvSpPr>
          <p:cNvPr id="52" name="Text 34"/>
          <p:cNvSpPr/>
          <p:nvPr/>
        </p:nvSpPr>
        <p:spPr>
          <a:xfrm>
            <a:off x="9221495" y="960120"/>
            <a:ext cx="2494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</a:t>
            </a:r>
            <a:endParaRPr lang="en-US" sz="1150" dirty="0"/>
          </a:p>
        </p:txBody>
      </p:sp>
      <p:pic>
        <p:nvPicPr>
          <p:cNvPr id="53" name="Image 16" descr="/home/claude/build/assets/badges/viab_rout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21495" y="1824228"/>
            <a:ext cx="237744" cy="237744"/>
          </a:xfrm>
          <a:prstGeom prst="rect">
            <a:avLst/>
          </a:prstGeom>
        </p:spPr>
      </p:pic>
      <p:sp>
        <p:nvSpPr>
          <p:cNvPr id="54" name="Text 35"/>
          <p:cNvSpPr/>
          <p:nvPr/>
        </p:nvSpPr>
        <p:spPr>
          <a:xfrm>
            <a:off x="9514103" y="1673352"/>
            <a:ext cx="2202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embedded architecture</a:t>
            </a:r>
            <a:endParaRPr lang="en-US" sz="900" dirty="0"/>
          </a:p>
        </p:txBody>
      </p:sp>
      <p:pic>
        <p:nvPicPr>
          <p:cNvPr id="55" name="Image 17" descr="/home/claude/build/assets/badges/viab_route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21495" y="2363724"/>
            <a:ext cx="237744" cy="237744"/>
          </a:xfrm>
          <a:prstGeom prst="rect">
            <a:avLst/>
          </a:prstGeom>
        </p:spPr>
      </p:pic>
      <p:sp>
        <p:nvSpPr>
          <p:cNvPr id="56" name="Text 36"/>
          <p:cNvSpPr/>
          <p:nvPr/>
        </p:nvSpPr>
        <p:spPr>
          <a:xfrm>
            <a:off x="9514103" y="2212848"/>
            <a:ext cx="2202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waveform library</a:t>
            </a:r>
            <a:endParaRPr lang="en-US" sz="900" dirty="0"/>
          </a:p>
        </p:txBody>
      </p:sp>
      <p:pic>
        <p:nvPicPr>
          <p:cNvPr id="57" name="Image 18" descr="/home/claude/build/assets/badges/viab_rout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21495" y="2903220"/>
            <a:ext cx="237744" cy="237744"/>
          </a:xfrm>
          <a:prstGeom prst="rect">
            <a:avLst/>
          </a:prstGeom>
        </p:spPr>
      </p:pic>
      <p:sp>
        <p:nvSpPr>
          <p:cNvPr id="58" name="Text 37"/>
          <p:cNvSpPr/>
          <p:nvPr/>
        </p:nvSpPr>
        <p:spPr>
          <a:xfrm>
            <a:off x="9514103" y="2752344"/>
            <a:ext cx="2202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sensors or simulated inputs</a:t>
            </a:r>
            <a:endParaRPr lang="en-US" sz="900" dirty="0"/>
          </a:p>
        </p:txBody>
      </p:sp>
      <p:pic>
        <p:nvPicPr>
          <p:cNvPr id="59" name="Image 19" descr="/home/claude/build/assets/badges/viab_route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21495" y="3442716"/>
            <a:ext cx="237744" cy="237744"/>
          </a:xfrm>
          <a:prstGeom prst="rect">
            <a:avLst/>
          </a:prstGeom>
        </p:spPr>
      </p:pic>
      <p:sp>
        <p:nvSpPr>
          <p:cNvPr id="60" name="Text 38"/>
          <p:cNvSpPr/>
          <p:nvPr/>
        </p:nvSpPr>
        <p:spPr>
          <a:xfrm>
            <a:off x="9514103" y="3291840"/>
            <a:ext cx="2202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HW/SW separation enables upgrades</a:t>
            </a:r>
            <a:endParaRPr lang="en-US" sz="900" dirty="0"/>
          </a:p>
        </p:txBody>
      </p:sp>
      <p:pic>
        <p:nvPicPr>
          <p:cNvPr id="61" name="Image 20" descr="/home/claude/build/assets/badges/viab_route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21495" y="3982212"/>
            <a:ext cx="237744" cy="237744"/>
          </a:xfrm>
          <a:prstGeom prst="rect">
            <a:avLst/>
          </a:prstGeom>
        </p:spPr>
      </p:pic>
      <p:sp>
        <p:nvSpPr>
          <p:cNvPr id="62" name="Text 39"/>
          <p:cNvSpPr/>
          <p:nvPr/>
        </p:nvSpPr>
        <p:spPr>
          <a:xfrm>
            <a:off x="9514103" y="3831336"/>
            <a:ext cx="2202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toward field-deployable AUV payload</a:t>
            </a:r>
            <a:endParaRPr lang="en-US" sz="900" dirty="0"/>
          </a:p>
        </p:txBody>
      </p:sp>
      <p:sp>
        <p:nvSpPr>
          <p:cNvPr id="63" name="Text 40"/>
          <p:cNvSpPr/>
          <p:nvPr/>
        </p:nvSpPr>
        <p:spPr>
          <a:xfrm>
            <a:off x="36576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MATURITY ROADMAP</a:t>
            </a:r>
            <a:endParaRPr lang="en-US" sz="1250" dirty="0"/>
          </a:p>
        </p:txBody>
      </p:sp>
      <p:sp>
        <p:nvSpPr>
          <p:cNvPr id="64" name="Shape 41"/>
          <p:cNvSpPr/>
          <p:nvPr/>
        </p:nvSpPr>
        <p:spPr>
          <a:xfrm>
            <a:off x="365760" y="5120640"/>
            <a:ext cx="2036003" cy="566928"/>
          </a:xfrm>
          <a:prstGeom prst="roundRect">
            <a:avLst>
              <a:gd name="adj" fmla="val 12903"/>
            </a:avLst>
          </a:prstGeom>
          <a:solidFill>
            <a:srgbClr val="21295C"/>
          </a:solidFill>
          <a:ln/>
        </p:spPr>
      </p:sp>
      <p:sp>
        <p:nvSpPr>
          <p:cNvPr id="65" name="Text 42"/>
          <p:cNvSpPr/>
          <p:nvPr/>
        </p:nvSpPr>
        <p:spPr>
          <a:xfrm>
            <a:off x="365760" y="5120640"/>
            <a:ext cx="2036003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050" dirty="0"/>
          </a:p>
        </p:txBody>
      </p:sp>
      <p:sp>
        <p:nvSpPr>
          <p:cNvPr id="66" name="Shape 43"/>
          <p:cNvSpPr/>
          <p:nvPr/>
        </p:nvSpPr>
        <p:spPr>
          <a:xfrm>
            <a:off x="2438339" y="5312664"/>
            <a:ext cx="256032" cy="18288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67" name="Shape 44"/>
          <p:cNvSpPr/>
          <p:nvPr/>
        </p:nvSpPr>
        <p:spPr>
          <a:xfrm>
            <a:off x="2721803" y="5120640"/>
            <a:ext cx="2036003" cy="566928"/>
          </a:xfrm>
          <a:prstGeom prst="roundRect">
            <a:avLst>
              <a:gd name="adj" fmla="val 12903"/>
            </a:avLst>
          </a:prstGeom>
          <a:solidFill>
            <a:srgbClr val="065A82"/>
          </a:solidFill>
          <a:ln/>
        </p:spPr>
      </p:sp>
      <p:sp>
        <p:nvSpPr>
          <p:cNvPr id="68" name="Text 45"/>
          <p:cNvSpPr/>
          <p:nvPr/>
        </p:nvSpPr>
        <p:spPr>
          <a:xfrm>
            <a:off x="2721803" y="5120640"/>
            <a:ext cx="2036003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69" name="Shape 46"/>
          <p:cNvSpPr/>
          <p:nvPr/>
        </p:nvSpPr>
        <p:spPr>
          <a:xfrm>
            <a:off x="4794382" y="5312664"/>
            <a:ext cx="256032" cy="18288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70" name="Shape 47"/>
          <p:cNvSpPr/>
          <p:nvPr/>
        </p:nvSpPr>
        <p:spPr>
          <a:xfrm>
            <a:off x="5077846" y="5120640"/>
            <a:ext cx="2036003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/>
        </p:spPr>
      </p:sp>
      <p:sp>
        <p:nvSpPr>
          <p:cNvPr id="71" name="Text 48"/>
          <p:cNvSpPr/>
          <p:nvPr/>
        </p:nvSpPr>
        <p:spPr>
          <a:xfrm>
            <a:off x="5077846" y="5120640"/>
            <a:ext cx="2036003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IN-LOOP</a:t>
            </a:r>
            <a:endParaRPr lang="en-US" sz="1050" dirty="0"/>
          </a:p>
        </p:txBody>
      </p:sp>
      <p:sp>
        <p:nvSpPr>
          <p:cNvPr id="72" name="Shape 49"/>
          <p:cNvSpPr/>
          <p:nvPr/>
        </p:nvSpPr>
        <p:spPr>
          <a:xfrm>
            <a:off x="7150425" y="5312664"/>
            <a:ext cx="256032" cy="18288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73" name="Shape 50"/>
          <p:cNvSpPr/>
          <p:nvPr/>
        </p:nvSpPr>
        <p:spPr>
          <a:xfrm>
            <a:off x="7433889" y="5120640"/>
            <a:ext cx="2036003" cy="566928"/>
          </a:xfrm>
          <a:prstGeom prst="roundRect">
            <a:avLst>
              <a:gd name="adj" fmla="val 12903"/>
            </a:avLst>
          </a:prstGeom>
          <a:solidFill>
            <a:srgbClr val="2E7D45"/>
          </a:solidFill>
          <a:ln/>
        </p:spPr>
      </p:sp>
      <p:sp>
        <p:nvSpPr>
          <p:cNvPr id="74" name="Text 51"/>
          <p:cNvSpPr/>
          <p:nvPr/>
        </p:nvSpPr>
        <p:spPr>
          <a:xfrm>
            <a:off x="7433889" y="5120640"/>
            <a:ext cx="2036003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AUV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75" name="Shape 52"/>
          <p:cNvSpPr/>
          <p:nvPr/>
        </p:nvSpPr>
        <p:spPr>
          <a:xfrm>
            <a:off x="9506468" y="5312664"/>
            <a:ext cx="256032" cy="18288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76" name="Shape 53"/>
          <p:cNvSpPr/>
          <p:nvPr/>
        </p:nvSpPr>
        <p:spPr>
          <a:xfrm>
            <a:off x="9789932" y="5120640"/>
            <a:ext cx="2036003" cy="566928"/>
          </a:xfrm>
          <a:prstGeom prst="roundRect">
            <a:avLst>
              <a:gd name="adj" fmla="val 12903"/>
            </a:avLst>
          </a:prstGeom>
          <a:solidFill>
            <a:srgbClr val="D9731A"/>
          </a:solidFill>
          <a:ln/>
        </p:spPr>
      </p:sp>
      <p:sp>
        <p:nvSpPr>
          <p:cNvPr id="77" name="Text 54"/>
          <p:cNvSpPr/>
          <p:nvPr/>
        </p:nvSpPr>
        <p:spPr>
          <a:xfrm>
            <a:off x="9789932" y="5120640"/>
            <a:ext cx="2036003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78" name="Text 55"/>
          <p:cNvSpPr/>
          <p:nvPr/>
        </p:nvSpPr>
        <p:spPr>
          <a:xfrm>
            <a:off x="365760" y="5824728"/>
            <a:ext cx="11460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focus: demo prototype → lab validation. Not positioned for immediate commercial or field deployment.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1417320" cy="7772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8064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Name</a:t>
            </a:r>
            <a:endParaRPr lang="en-US" sz="1100" dirty="0"/>
          </a:p>
        </p:txBody>
      </p:sp>
      <p:pic>
        <p:nvPicPr>
          <p:cNvPr id="4" name="Image 0" descr="/home/claude/build/assets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201168"/>
            <a:ext cx="1417320" cy="7223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64592"/>
            <a:ext cx="8534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65760" y="9966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1295C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996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pic>
        <p:nvPicPr>
          <p:cNvPr id="9" name="Image 1" descr="/home/claude/build/assets/badges/impact_mapp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042416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89888" y="960120"/>
            <a:ext cx="5605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UNDERWATER MAPPING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389888" y="1252728"/>
            <a:ext cx="5605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waveform selection according to real-time environmental conditions.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65760" y="16642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1295C"/>
          </a:solidFill>
          <a:ln/>
        </p:spPr>
      </p:sp>
      <p:sp>
        <p:nvSpPr>
          <p:cNvPr id="13" name="Text 9"/>
          <p:cNvSpPr/>
          <p:nvPr/>
        </p:nvSpPr>
        <p:spPr>
          <a:xfrm>
            <a:off x="36576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pic>
        <p:nvPicPr>
          <p:cNvPr id="14" name="Image 2" descr="/home/claude/build/assets/badges/impact_resolu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70992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89888" y="1627632"/>
            <a:ext cx="5605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RANGE–RESOLUTION TRADE-OFF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389888" y="1920240"/>
            <a:ext cx="5605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between penetration-oriented and resolution-oriented configurations.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65760" y="23317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1295C"/>
          </a:solidFill>
          <a:ln/>
        </p:spPr>
      </p:sp>
      <p:sp>
        <p:nvSpPr>
          <p:cNvPr id="18" name="Text 13"/>
          <p:cNvSpPr/>
          <p:nvPr/>
        </p:nvSpPr>
        <p:spPr>
          <a:xfrm>
            <a:off x="3657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pic>
        <p:nvPicPr>
          <p:cNvPr id="19" name="Image 3" descr="/home/claude/build/assets/badges/impact_pow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237744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89888" y="2295144"/>
            <a:ext cx="5605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LOW-POWER OPERATION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1389888" y="2587752"/>
            <a:ext cx="5605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 + hardware timers cut continuous CPU involvement during streaming.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365760" y="29992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1295C"/>
          </a:solidFill>
          <a:ln/>
        </p:spPr>
      </p:sp>
      <p:sp>
        <p:nvSpPr>
          <p:cNvPr id="23" name="Text 17"/>
          <p:cNvSpPr/>
          <p:nvPr/>
        </p:nvSpPr>
        <p:spPr>
          <a:xfrm>
            <a:off x="36576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pic>
        <p:nvPicPr>
          <p:cNvPr id="24" name="Image 4" descr="/home/claude/build/assets/badges/impact_valida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044952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389888" y="2962656"/>
            <a:ext cx="5605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SIGNAL VALIDATION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1389888" y="3255264"/>
            <a:ext cx="5605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FFT, spectrogram and signal metrics give immediate feedback on each pulse.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365760" y="36667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1295C"/>
          </a:solidFill>
          <a:ln/>
        </p:spPr>
      </p:sp>
      <p:sp>
        <p:nvSpPr>
          <p:cNvPr id="28" name="Text 21"/>
          <p:cNvSpPr/>
          <p:nvPr/>
        </p:nvSpPr>
        <p:spPr>
          <a:xfrm>
            <a:off x="36576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pic>
        <p:nvPicPr>
          <p:cNvPr id="29" name="Image 5" descr="/home/claude/build/assets/badges/impact_mission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3712464"/>
            <a:ext cx="365760" cy="36576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389888" y="3630168"/>
            <a:ext cx="5605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LONGER, MORE EFFICIENT MISSIONS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1389888" y="3922776"/>
            <a:ext cx="5605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Battery-aware waveform configuration reduces unnecessary transmit energy.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7269480" y="960120"/>
            <a:ext cx="4556455" cy="333756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7498080" y="1124712"/>
            <a:ext cx="4099255" cy="543154"/>
          </a:xfrm>
          <a:prstGeom prst="roundRect">
            <a:avLst>
              <a:gd name="adj" fmla="val 8418"/>
            </a:avLst>
          </a:prstGeom>
          <a:solidFill>
            <a:srgbClr val="065A82"/>
          </a:solidFill>
          <a:ln/>
        </p:spPr>
      </p:sp>
      <p:sp>
        <p:nvSpPr>
          <p:cNvPr id="34" name="Text 26"/>
          <p:cNvSpPr/>
          <p:nvPr/>
        </p:nvSpPr>
        <p:spPr>
          <a:xfrm>
            <a:off x="7498080" y="1124712"/>
            <a:ext cx="4099255" cy="54315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9465412" y="1667866"/>
            <a:ext cx="164592" cy="73152"/>
          </a:xfrm>
          <a:prstGeom prst="downArrow">
            <a:avLst/>
          </a:prstGeom>
          <a:solidFill>
            <a:srgbClr val="5B6472"/>
          </a:solidFill>
          <a:ln/>
        </p:spPr>
      </p:sp>
      <p:sp>
        <p:nvSpPr>
          <p:cNvPr id="36" name="Shape 28"/>
          <p:cNvSpPr/>
          <p:nvPr/>
        </p:nvSpPr>
        <p:spPr>
          <a:xfrm>
            <a:off x="7498080" y="1741018"/>
            <a:ext cx="4099255" cy="543154"/>
          </a:xfrm>
          <a:prstGeom prst="roundRect">
            <a:avLst>
              <a:gd name="adj" fmla="val 8418"/>
            </a:avLst>
          </a:prstGeom>
          <a:solidFill>
            <a:srgbClr val="1C7293"/>
          </a:solidFill>
          <a:ln/>
        </p:spPr>
      </p:sp>
      <p:sp>
        <p:nvSpPr>
          <p:cNvPr id="37" name="Text 29"/>
          <p:cNvSpPr/>
          <p:nvPr/>
        </p:nvSpPr>
        <p:spPr>
          <a:xfrm>
            <a:off x="7498080" y="1741018"/>
            <a:ext cx="4099255" cy="54315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SONAR</a:t>
            </a:r>
            <a:endParaRPr lang="en-US" sz="950" dirty="0"/>
          </a:p>
        </p:txBody>
      </p:sp>
      <p:sp>
        <p:nvSpPr>
          <p:cNvPr id="38" name="Shape 30"/>
          <p:cNvSpPr/>
          <p:nvPr/>
        </p:nvSpPr>
        <p:spPr>
          <a:xfrm>
            <a:off x="9465412" y="2284171"/>
            <a:ext cx="164592" cy="73152"/>
          </a:xfrm>
          <a:prstGeom prst="downArrow">
            <a:avLst/>
          </a:prstGeom>
          <a:solidFill>
            <a:srgbClr val="5B6472"/>
          </a:solidFill>
          <a:ln/>
        </p:spPr>
      </p:sp>
      <p:sp>
        <p:nvSpPr>
          <p:cNvPr id="39" name="Shape 31"/>
          <p:cNvSpPr/>
          <p:nvPr/>
        </p:nvSpPr>
        <p:spPr>
          <a:xfrm>
            <a:off x="7498080" y="2357323"/>
            <a:ext cx="4099255" cy="543154"/>
          </a:xfrm>
          <a:prstGeom prst="roundRect">
            <a:avLst>
              <a:gd name="adj" fmla="val 8418"/>
            </a:avLst>
          </a:prstGeom>
          <a:solidFill>
            <a:srgbClr val="D9731A"/>
          </a:solidFill>
          <a:ln/>
        </p:spPr>
      </p:sp>
      <p:sp>
        <p:nvSpPr>
          <p:cNvPr id="40" name="Text 32"/>
          <p:cNvSpPr/>
          <p:nvPr/>
        </p:nvSpPr>
        <p:spPr>
          <a:xfrm>
            <a:off x="7498080" y="2357323"/>
            <a:ext cx="4099255" cy="54315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SELECTION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9465412" y="2900477"/>
            <a:ext cx="164592" cy="73152"/>
          </a:xfrm>
          <a:prstGeom prst="downArrow">
            <a:avLst/>
          </a:prstGeom>
          <a:solidFill>
            <a:srgbClr val="5B6472"/>
          </a:solidFill>
          <a:ln/>
        </p:spPr>
      </p:sp>
      <p:sp>
        <p:nvSpPr>
          <p:cNvPr id="42" name="Shape 34"/>
          <p:cNvSpPr/>
          <p:nvPr/>
        </p:nvSpPr>
        <p:spPr>
          <a:xfrm>
            <a:off x="7498080" y="2973629"/>
            <a:ext cx="4099255" cy="543154"/>
          </a:xfrm>
          <a:prstGeom prst="roundRect">
            <a:avLst>
              <a:gd name="adj" fmla="val 8418"/>
            </a:avLst>
          </a:prstGeom>
          <a:solidFill>
            <a:srgbClr val="2E7D45"/>
          </a:solidFill>
          <a:ln/>
        </p:spPr>
      </p:sp>
      <p:sp>
        <p:nvSpPr>
          <p:cNvPr id="43" name="Text 35"/>
          <p:cNvSpPr/>
          <p:nvPr/>
        </p:nvSpPr>
        <p:spPr>
          <a:xfrm>
            <a:off x="7498080" y="2973629"/>
            <a:ext cx="4099255" cy="54315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ENERGY-AWARE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950" dirty="0"/>
          </a:p>
        </p:txBody>
      </p:sp>
      <p:sp>
        <p:nvSpPr>
          <p:cNvPr id="44" name="Shape 36"/>
          <p:cNvSpPr/>
          <p:nvPr/>
        </p:nvSpPr>
        <p:spPr>
          <a:xfrm>
            <a:off x="9465412" y="3516782"/>
            <a:ext cx="164592" cy="73152"/>
          </a:xfrm>
          <a:prstGeom prst="downArrow">
            <a:avLst/>
          </a:prstGeom>
          <a:solidFill>
            <a:srgbClr val="5B6472"/>
          </a:solidFill>
          <a:ln/>
        </p:spPr>
      </p:sp>
      <p:sp>
        <p:nvSpPr>
          <p:cNvPr id="45" name="Shape 37"/>
          <p:cNvSpPr/>
          <p:nvPr/>
        </p:nvSpPr>
        <p:spPr>
          <a:xfrm>
            <a:off x="7498080" y="3589934"/>
            <a:ext cx="4099255" cy="543154"/>
          </a:xfrm>
          <a:prstGeom prst="roundRect">
            <a:avLst>
              <a:gd name="adj" fmla="val 8418"/>
            </a:avLst>
          </a:prstGeom>
          <a:solidFill>
            <a:srgbClr val="21295C"/>
          </a:solidFill>
          <a:ln/>
        </p:spPr>
      </p:sp>
      <p:sp>
        <p:nvSpPr>
          <p:cNvPr id="46" name="Text 38"/>
          <p:cNvSpPr/>
          <p:nvPr/>
        </p:nvSpPr>
        <p:spPr>
          <a:xfrm>
            <a:off x="7498080" y="3589934"/>
            <a:ext cx="4099255" cy="54315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950" dirty="0"/>
          </a:p>
        </p:txBody>
      </p:sp>
      <p:sp>
        <p:nvSpPr>
          <p:cNvPr id="47" name="Shape 39"/>
          <p:cNvSpPr/>
          <p:nvPr/>
        </p:nvSpPr>
        <p:spPr>
          <a:xfrm>
            <a:off x="365760" y="4480560"/>
            <a:ext cx="3698138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</p:sp>
      <p:sp>
        <p:nvSpPr>
          <p:cNvPr id="48" name="Text 40"/>
          <p:cNvSpPr/>
          <p:nvPr/>
        </p:nvSpPr>
        <p:spPr>
          <a:xfrm>
            <a:off x="475488" y="4535424"/>
            <a:ext cx="34786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IMPACT</a:t>
            </a:r>
            <a:endParaRPr lang="en-US" sz="1050" dirty="0"/>
          </a:p>
        </p:txBody>
      </p:sp>
      <p:sp>
        <p:nvSpPr>
          <p:cNvPr id="49" name="Text 41"/>
          <p:cNvSpPr/>
          <p:nvPr/>
        </p:nvSpPr>
        <p:spPr>
          <a:xfrm>
            <a:off x="475488" y="4773168"/>
            <a:ext cx="34786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· Adaptability · Signal Quality</a:t>
            </a:r>
            <a:endParaRPr lang="en-US" sz="800" dirty="0"/>
          </a:p>
        </p:txBody>
      </p:sp>
      <p:sp>
        <p:nvSpPr>
          <p:cNvPr id="50" name="Shape 42"/>
          <p:cNvSpPr/>
          <p:nvPr/>
        </p:nvSpPr>
        <p:spPr>
          <a:xfrm>
            <a:off x="4246778" y="4480560"/>
            <a:ext cx="3698138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51" name="Text 43"/>
          <p:cNvSpPr/>
          <p:nvPr/>
        </p:nvSpPr>
        <p:spPr>
          <a:xfrm>
            <a:off x="4356506" y="4535424"/>
            <a:ext cx="34786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IMPACT</a:t>
            </a:r>
            <a:endParaRPr lang="en-US" sz="1050" dirty="0"/>
          </a:p>
        </p:txBody>
      </p:sp>
      <p:sp>
        <p:nvSpPr>
          <p:cNvPr id="52" name="Text 44"/>
          <p:cNvSpPr/>
          <p:nvPr/>
        </p:nvSpPr>
        <p:spPr>
          <a:xfrm>
            <a:off x="4356506" y="4773168"/>
            <a:ext cx="34786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· Reconfigurable · Experiment-friendly</a:t>
            </a:r>
            <a:endParaRPr lang="en-US" sz="800" dirty="0"/>
          </a:p>
        </p:txBody>
      </p:sp>
      <p:sp>
        <p:nvSpPr>
          <p:cNvPr id="53" name="Shape 45"/>
          <p:cNvSpPr/>
          <p:nvPr/>
        </p:nvSpPr>
        <p:spPr>
          <a:xfrm>
            <a:off x="8127797" y="4480560"/>
            <a:ext cx="3698138" cy="566928"/>
          </a:xfrm>
          <a:prstGeom prst="roundRect">
            <a:avLst>
              <a:gd name="adj" fmla="val 9677"/>
            </a:avLst>
          </a:prstGeom>
          <a:solidFill>
            <a:srgbClr val="21295C"/>
          </a:solidFill>
          <a:ln/>
        </p:spPr>
      </p:sp>
      <p:sp>
        <p:nvSpPr>
          <p:cNvPr id="54" name="Text 46"/>
          <p:cNvSpPr/>
          <p:nvPr/>
        </p:nvSpPr>
        <p:spPr>
          <a:xfrm>
            <a:off x="8237525" y="4535424"/>
            <a:ext cx="34786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IMPACT</a:t>
            </a:r>
            <a:endParaRPr lang="en-US" sz="1050" dirty="0"/>
          </a:p>
        </p:txBody>
      </p:sp>
      <p:sp>
        <p:nvSpPr>
          <p:cNvPr id="55" name="Text 47"/>
          <p:cNvSpPr/>
          <p:nvPr/>
        </p:nvSpPr>
        <p:spPr>
          <a:xfrm>
            <a:off x="8237525" y="4773168"/>
            <a:ext cx="34786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Environment-aware · Autonomous · Low-power</a:t>
            </a:r>
            <a:endParaRPr lang="en-US" sz="800" dirty="0"/>
          </a:p>
        </p:txBody>
      </p:sp>
      <p:sp>
        <p:nvSpPr>
          <p:cNvPr id="56" name="Text 48"/>
          <p:cNvSpPr/>
          <p:nvPr/>
        </p:nvSpPr>
        <p:spPr>
          <a:xfrm>
            <a:off x="365760" y="52486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200" dirty="0"/>
          </a:p>
        </p:txBody>
      </p:sp>
      <p:sp>
        <p:nvSpPr>
          <p:cNvPr id="57" name="Shape 49"/>
          <p:cNvSpPr/>
          <p:nvPr/>
        </p:nvSpPr>
        <p:spPr>
          <a:xfrm>
            <a:off x="365760" y="5559552"/>
            <a:ext cx="1795729" cy="566928"/>
          </a:xfrm>
          <a:prstGeom prst="roundRect">
            <a:avLst>
              <a:gd name="adj" fmla="val 9677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pic>
        <p:nvPicPr>
          <p:cNvPr id="58" name="Image 6" descr="/home/claude/build/assets/badges/user_auv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5609" y="5614416"/>
            <a:ext cx="256032" cy="256032"/>
          </a:xfrm>
          <a:prstGeom prst="rect">
            <a:avLst/>
          </a:prstGeom>
        </p:spPr>
      </p:pic>
      <p:sp>
        <p:nvSpPr>
          <p:cNvPr id="59" name="Text 50"/>
          <p:cNvSpPr/>
          <p:nvPr/>
        </p:nvSpPr>
        <p:spPr>
          <a:xfrm>
            <a:off x="402336" y="5888736"/>
            <a:ext cx="17225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robotics researchers</a:t>
            </a:r>
            <a:endParaRPr lang="en-US" sz="680" dirty="0"/>
          </a:p>
        </p:txBody>
      </p:sp>
      <p:sp>
        <p:nvSpPr>
          <p:cNvPr id="60" name="Shape 51"/>
          <p:cNvSpPr/>
          <p:nvPr/>
        </p:nvSpPr>
        <p:spPr>
          <a:xfrm>
            <a:off x="2298649" y="5559552"/>
            <a:ext cx="1795729" cy="566928"/>
          </a:xfrm>
          <a:prstGeom prst="roundRect">
            <a:avLst>
              <a:gd name="adj" fmla="val 9677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pic>
        <p:nvPicPr>
          <p:cNvPr id="61" name="Image 7" descr="/home/claude/build/assets/badges/user_auv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68498" y="5614416"/>
            <a:ext cx="256032" cy="256032"/>
          </a:xfrm>
          <a:prstGeom prst="rect">
            <a:avLst/>
          </a:prstGeom>
        </p:spPr>
      </p:pic>
      <p:sp>
        <p:nvSpPr>
          <p:cNvPr id="62" name="Text 52"/>
          <p:cNvSpPr/>
          <p:nvPr/>
        </p:nvSpPr>
        <p:spPr>
          <a:xfrm>
            <a:off x="2335225" y="5888736"/>
            <a:ext cx="17225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AUV developers</a:t>
            </a:r>
            <a:endParaRPr lang="en-US" sz="680" dirty="0"/>
          </a:p>
        </p:txBody>
      </p:sp>
      <p:sp>
        <p:nvSpPr>
          <p:cNvPr id="63" name="Shape 53"/>
          <p:cNvSpPr/>
          <p:nvPr/>
        </p:nvSpPr>
        <p:spPr>
          <a:xfrm>
            <a:off x="4231538" y="5559552"/>
            <a:ext cx="1795729" cy="566928"/>
          </a:xfrm>
          <a:prstGeom prst="roundRect">
            <a:avLst>
              <a:gd name="adj" fmla="val 9677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pic>
        <p:nvPicPr>
          <p:cNvPr id="64" name="Image 8" descr="/home/claude/build/assets/badges/user_marin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1387" y="5614416"/>
            <a:ext cx="256032" cy="256032"/>
          </a:xfrm>
          <a:prstGeom prst="rect">
            <a:avLst/>
          </a:prstGeom>
        </p:spPr>
      </p:pic>
      <p:sp>
        <p:nvSpPr>
          <p:cNvPr id="65" name="Text 54"/>
          <p:cNvSpPr/>
          <p:nvPr/>
        </p:nvSpPr>
        <p:spPr>
          <a:xfrm>
            <a:off x="4268114" y="5888736"/>
            <a:ext cx="17225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mapping teams</a:t>
            </a:r>
            <a:endParaRPr lang="en-US" sz="680" dirty="0"/>
          </a:p>
        </p:txBody>
      </p:sp>
      <p:sp>
        <p:nvSpPr>
          <p:cNvPr id="66" name="Shape 55"/>
          <p:cNvSpPr/>
          <p:nvPr/>
        </p:nvSpPr>
        <p:spPr>
          <a:xfrm>
            <a:off x="6164428" y="5559552"/>
            <a:ext cx="1795729" cy="566928"/>
          </a:xfrm>
          <a:prstGeom prst="roundRect">
            <a:avLst>
              <a:gd name="adj" fmla="val 9677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pic>
        <p:nvPicPr>
          <p:cNvPr id="67" name="Image 9" descr="/home/claude/build/assets/badges/user_marin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34276" y="5614416"/>
            <a:ext cx="256032" cy="256032"/>
          </a:xfrm>
          <a:prstGeom prst="rect">
            <a:avLst/>
          </a:prstGeom>
        </p:spPr>
      </p:pic>
      <p:sp>
        <p:nvSpPr>
          <p:cNvPr id="68" name="Text 56"/>
          <p:cNvSpPr/>
          <p:nvPr/>
        </p:nvSpPr>
        <p:spPr>
          <a:xfrm>
            <a:off x="6201004" y="5888736"/>
            <a:ext cx="17225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Hydrographic survey systems</a:t>
            </a:r>
            <a:endParaRPr lang="en-US" sz="680" dirty="0"/>
          </a:p>
        </p:txBody>
      </p:sp>
      <p:sp>
        <p:nvSpPr>
          <p:cNvPr id="69" name="Shape 57"/>
          <p:cNvSpPr/>
          <p:nvPr/>
        </p:nvSpPr>
        <p:spPr>
          <a:xfrm>
            <a:off x="8097317" y="5559552"/>
            <a:ext cx="1795729" cy="566928"/>
          </a:xfrm>
          <a:prstGeom prst="roundRect">
            <a:avLst>
              <a:gd name="adj" fmla="val 9677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pic>
        <p:nvPicPr>
          <p:cNvPr id="70" name="Image 10" descr="/home/claude/build/assets/badges/user_defenc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67165" y="5614416"/>
            <a:ext cx="256032" cy="256032"/>
          </a:xfrm>
          <a:prstGeom prst="rect">
            <a:avLst/>
          </a:prstGeom>
        </p:spPr>
      </p:pic>
      <p:sp>
        <p:nvSpPr>
          <p:cNvPr id="71" name="Text 58"/>
          <p:cNvSpPr/>
          <p:nvPr/>
        </p:nvSpPr>
        <p:spPr>
          <a:xfrm>
            <a:off x="8133893" y="5888736"/>
            <a:ext cx="17225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labs</a:t>
            </a:r>
            <a:endParaRPr lang="en-US" sz="680" dirty="0"/>
          </a:p>
        </p:txBody>
      </p:sp>
      <p:sp>
        <p:nvSpPr>
          <p:cNvPr id="72" name="Shape 59"/>
          <p:cNvSpPr/>
          <p:nvPr/>
        </p:nvSpPr>
        <p:spPr>
          <a:xfrm>
            <a:off x="10030206" y="5559552"/>
            <a:ext cx="1795729" cy="566928"/>
          </a:xfrm>
          <a:prstGeom prst="roundRect">
            <a:avLst>
              <a:gd name="adj" fmla="val 9677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pic>
        <p:nvPicPr>
          <p:cNvPr id="73" name="Image 11" descr="/home/claude/build/assets/badges/user_defenc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00055" y="5614416"/>
            <a:ext cx="256032" cy="256032"/>
          </a:xfrm>
          <a:prstGeom prst="rect">
            <a:avLst/>
          </a:prstGeom>
        </p:spPr>
      </p:pic>
      <p:sp>
        <p:nvSpPr>
          <p:cNvPr id="74" name="Text 60"/>
          <p:cNvSpPr/>
          <p:nvPr/>
        </p:nvSpPr>
        <p:spPr>
          <a:xfrm>
            <a:off x="10066782" y="5888736"/>
            <a:ext cx="17225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/ underwater sensing R&amp;D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1417320" cy="7772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8064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Name</a:t>
            </a:r>
            <a:endParaRPr lang="en-US" sz="1100" dirty="0"/>
          </a:p>
        </p:txBody>
      </p:sp>
      <p:pic>
        <p:nvPicPr>
          <p:cNvPr id="4" name="Image 0" descr="/home/claude/build/assets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201168"/>
            <a:ext cx="1417320" cy="7223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64592"/>
            <a:ext cx="8534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65760" y="960120"/>
            <a:ext cx="6949440" cy="3063240"/>
          </a:xfrm>
          <a:prstGeom prst="roundRect">
            <a:avLst>
              <a:gd name="adj" fmla="val 1791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08813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AREAS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15270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</a:t>
            </a:r>
            <a:pPr indent="0" marL="0">
              <a:buNone/>
            </a:pPr>
            <a:r>
              <a:rPr lang="en-US" sz="105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Side-scan sonar system design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" y="19842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</a:t>
            </a:r>
            <a:pPr indent="0" marL="0">
              <a:buNone/>
            </a:pPr>
            <a:r>
              <a:rPr lang="en-US" sz="105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LFM chirp signal processing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24414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</a:t>
            </a:r>
            <a:pPr indent="0" marL="0">
              <a:buNone/>
            </a:pPr>
            <a:r>
              <a:rPr lang="en-US" sz="105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 waveform design principles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28986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</a:t>
            </a:r>
            <a:pPr indent="0" marL="0">
              <a:buNone/>
            </a:pPr>
            <a:r>
              <a:rPr lang="en-US" sz="105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Underwater acoustic propagation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48640" y="33558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</a:t>
            </a:r>
            <a:pPr indent="0" marL="0">
              <a:buNone/>
            </a:pPr>
            <a:r>
              <a:rPr lang="en-US" sz="105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signal processing fundamentals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886200" y="15270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</a:t>
            </a:r>
            <a:pPr indent="0" marL="0">
              <a:buNone/>
            </a:pPr>
            <a:r>
              <a:rPr lang="en-US" sz="105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algorithms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886200" y="19842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</a:t>
            </a:r>
            <a:pPr indent="0" marL="0">
              <a:buNone/>
            </a:pPr>
            <a:r>
              <a:rPr lang="en-US" sz="105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(Hamming / Hann / Blackman)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886200" y="24414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</a:t>
            </a:r>
            <a:pPr indent="0" marL="0">
              <a:buNone/>
            </a:pPr>
            <a:r>
              <a:rPr lang="en-US" sz="105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Software-defined radio / software-defined sensing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886200" y="28986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</a:t>
            </a:r>
            <a:pPr indent="0" marL="0">
              <a:buNone/>
            </a:pPr>
            <a:r>
              <a:rPr lang="en-US" sz="105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DMA, timers and DAC peripherals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886200" y="33558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 </a:t>
            </a:r>
            <a:pPr indent="0" marL="0">
              <a:buNone/>
            </a:pPr>
            <a:r>
              <a:rPr lang="en-US" sz="105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AUV systems and payload design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65760" y="425196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TYPES TO BE CITED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5760" y="4562856"/>
            <a:ext cx="1634490" cy="82296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pic>
        <p:nvPicPr>
          <p:cNvPr id="21" name="Image 1" descr="/home/claude/build/assets/badges/hw_sco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269" y="4672584"/>
            <a:ext cx="347472" cy="34747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11480" y="5056632"/>
            <a:ext cx="15430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</a:t>
            </a:r>
            <a:endParaRPr lang="en-US" sz="870" dirty="0"/>
          </a:p>
        </p:txBody>
      </p:sp>
      <p:sp>
        <p:nvSpPr>
          <p:cNvPr id="23" name="Shape 19"/>
          <p:cNvSpPr/>
          <p:nvPr/>
        </p:nvSpPr>
        <p:spPr>
          <a:xfrm>
            <a:off x="2137410" y="4562856"/>
            <a:ext cx="1634490" cy="82296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pic>
        <p:nvPicPr>
          <p:cNvPr id="24" name="Image 2" descr="/home/claude/build/assets/badges/hw_stm3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919" y="4672584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183130" y="5056632"/>
            <a:ext cx="15430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datasheets</a:t>
            </a:r>
            <a:endParaRPr lang="en-US" sz="870" dirty="0"/>
          </a:p>
        </p:txBody>
      </p:sp>
      <p:sp>
        <p:nvSpPr>
          <p:cNvPr id="26" name="Shape 21"/>
          <p:cNvSpPr/>
          <p:nvPr/>
        </p:nvSpPr>
        <p:spPr>
          <a:xfrm>
            <a:off x="3909060" y="4562856"/>
            <a:ext cx="1634490" cy="82296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pic>
        <p:nvPicPr>
          <p:cNvPr id="27" name="Image 3" descr="/home/claude/build/assets/badges/mitig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2569" y="4672584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954780" y="5056632"/>
            <a:ext cx="15430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870" dirty="0"/>
          </a:p>
        </p:txBody>
      </p:sp>
      <p:sp>
        <p:nvSpPr>
          <p:cNvPr id="29" name="Shape 23"/>
          <p:cNvSpPr/>
          <p:nvPr/>
        </p:nvSpPr>
        <p:spPr>
          <a:xfrm>
            <a:off x="5680710" y="4562856"/>
            <a:ext cx="1634490" cy="82296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pic>
        <p:nvPicPr>
          <p:cNvPr id="30" name="Image 4" descr="/home/claude/build/assets/badges/dash_ff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219" y="4672584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726430" y="5056632"/>
            <a:ext cx="15430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/ acoustics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870" dirty="0"/>
          </a:p>
        </p:txBody>
      </p:sp>
      <p:sp>
        <p:nvSpPr>
          <p:cNvPr id="32" name="Text 25"/>
          <p:cNvSpPr/>
          <p:nvPr/>
        </p:nvSpPr>
        <p:spPr>
          <a:xfrm>
            <a:off x="365760" y="55321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placeholder marks a reference category the team will complete with a verified source before final submission — no reference has been fabricated for this deck.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7589520" y="960120"/>
            <a:ext cx="4236415" cy="2103120"/>
          </a:xfrm>
          <a:prstGeom prst="roundRect">
            <a:avLst>
              <a:gd name="adj" fmla="val 2609"/>
            </a:avLst>
          </a:prstGeom>
          <a:solidFill>
            <a:srgbClr val="065A82"/>
          </a:solidFill>
          <a:ln/>
        </p:spPr>
      </p:sp>
      <p:sp>
        <p:nvSpPr>
          <p:cNvPr id="34" name="Text 27"/>
          <p:cNvSpPr/>
          <p:nvPr/>
        </p:nvSpPr>
        <p:spPr>
          <a:xfrm>
            <a:off x="7754112" y="1069848"/>
            <a:ext cx="39072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VALIDATION SOURCES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7772400" y="1399032"/>
            <a:ext cx="3870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datasheets (STM32, ADC, DAC, op-amp)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7772400" y="1720901"/>
            <a:ext cx="3870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controller / peripheral documentation</a:t>
            </a:r>
            <a:endParaRPr lang="en-US" sz="950" dirty="0"/>
          </a:p>
        </p:txBody>
      </p:sp>
      <p:sp>
        <p:nvSpPr>
          <p:cNvPr id="37" name="Text 30"/>
          <p:cNvSpPr/>
          <p:nvPr/>
        </p:nvSpPr>
        <p:spPr>
          <a:xfrm>
            <a:off x="7772400" y="2042770"/>
            <a:ext cx="3870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Signal-processing reference texts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7772400" y="2364638"/>
            <a:ext cx="3870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 and underwater-acoustics literature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7772400" y="2686507"/>
            <a:ext cx="3870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academic papers (to be finalised)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7589520" y="3264408"/>
            <a:ext cx="4236415" cy="1234440"/>
          </a:xfrm>
          <a:prstGeom prst="roundRect">
            <a:avLst>
              <a:gd name="adj" fmla="val 4444"/>
            </a:avLst>
          </a:prstGeom>
          <a:solidFill>
            <a:srgbClr val="FFF6E9"/>
          </a:solidFill>
          <a:ln w="12700">
            <a:solidFill>
              <a:srgbClr val="D9731A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7754112" y="3374136"/>
            <a:ext cx="39072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4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 REFERENCES</a:t>
            </a:r>
            <a:endParaRPr lang="en-US" sz="1050" dirty="0"/>
          </a:p>
        </p:txBody>
      </p:sp>
      <p:sp>
        <p:nvSpPr>
          <p:cNvPr id="42" name="Text 35"/>
          <p:cNvSpPr/>
          <p:nvPr/>
        </p:nvSpPr>
        <p:spPr>
          <a:xfrm>
            <a:off x="7754112" y="3648456"/>
            <a:ext cx="39072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i="1" dirty="0">
                <a:solidFill>
                  <a:srgbClr val="6B4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citations are intentionally left as placeholders. Insert verified papers, datasheets and standards before submission.</a:t>
            </a:r>
            <a:endParaRPr lang="en-US" sz="930" dirty="0"/>
          </a:p>
        </p:txBody>
      </p:sp>
      <p:sp>
        <p:nvSpPr>
          <p:cNvPr id="43" name="Shape 36"/>
          <p:cNvSpPr/>
          <p:nvPr/>
        </p:nvSpPr>
        <p:spPr>
          <a:xfrm>
            <a:off x="7589520" y="4700016"/>
            <a:ext cx="4236415" cy="1143000"/>
          </a:xfrm>
          <a:prstGeom prst="roundRect">
            <a:avLst>
              <a:gd name="adj" fmla="val 4800"/>
            </a:avLst>
          </a:prstGeom>
          <a:solidFill>
            <a:srgbClr val="21295C"/>
          </a:solidFill>
          <a:ln/>
        </p:spPr>
      </p:sp>
      <p:sp>
        <p:nvSpPr>
          <p:cNvPr id="44" name="Text 37"/>
          <p:cNvSpPr/>
          <p:nvPr/>
        </p:nvSpPr>
        <p:spPr>
          <a:xfrm>
            <a:off x="7754112" y="4791456"/>
            <a:ext cx="39072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SUBMISSION CHECKLIST</a:t>
            </a:r>
            <a:endParaRPr lang="en-US" sz="1050" dirty="0"/>
          </a:p>
        </p:txBody>
      </p:sp>
      <p:pic>
        <p:nvPicPr>
          <p:cNvPr id="45" name="Image 5" descr="/home/claude/build/assets/badges/feas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5824" y="5053203"/>
            <a:ext cx="201168" cy="201168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8010144" y="5065776"/>
            <a:ext cx="3687775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slides max, official format</a:t>
            </a:r>
            <a:endParaRPr lang="en-US" sz="870" dirty="0"/>
          </a:p>
        </p:txBody>
      </p:sp>
      <p:pic>
        <p:nvPicPr>
          <p:cNvPr id="47" name="Image 6" descr="/home/claude/build/assets/badges/feas_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5824" y="5229225"/>
            <a:ext cx="201168" cy="201168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8010144" y="5241798"/>
            <a:ext cx="3687775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 only</a:t>
            </a:r>
            <a:endParaRPr lang="en-US" sz="870" dirty="0"/>
          </a:p>
        </p:txBody>
      </p:sp>
      <p:pic>
        <p:nvPicPr>
          <p:cNvPr id="49" name="Image 7" descr="/home/claude/build/assets/badges/feas_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5824" y="5405247"/>
            <a:ext cx="201168" cy="201168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8010144" y="5417820"/>
            <a:ext cx="3687775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&amp; diagrams, not paragraphs</a:t>
            </a:r>
            <a:endParaRPr lang="en-US" sz="870" dirty="0"/>
          </a:p>
        </p:txBody>
      </p:sp>
      <p:pic>
        <p:nvPicPr>
          <p:cNvPr id="51" name="Image 8" descr="/home/claude/build/assets/badges/feas_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35824" y="5581269"/>
            <a:ext cx="201168" cy="201168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8010144" y="5593842"/>
            <a:ext cx="3687775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Original, unique idea</a:t>
            </a:r>
            <a:endParaRPr lang="en-US" sz="8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2026-09-24T06:20:48Z</dcterms:created>
  <dcterms:modified xsi:type="dcterms:W3CDTF">2026-09-24T06:20:48Z</dcterms:modified>
</cp:coreProperties>
</file>